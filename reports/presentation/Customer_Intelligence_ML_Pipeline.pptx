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explaining that this project demonstrates complete machine-learning reasoning, not only model training. The four methods answer separate questions and their outputs must not be mixed.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boundary between the methods. PCA compresses data, K-Means describes broad groups, DBSCAN finds sparse behavior, and gradient boosting estimates a historical outcome probability.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target is imbalanced but not extremely rare. Use balanced accuracy, precision, recall, F1, PR-AUC, and ROC-AUC alongside overall accuracy.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Candidate selection uses only training folds. Validation is reserved for threshold selection. The test set is opened once after the model and threshold are frozen. The conflicting labels explain why perfect classification is not credible.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Preprocessing and PCA were fitted on training data only. Two components are useful for visualization, while the retained representation supports unsupervised analysis. The supervised classifier does not use the PCA representation.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near-perfect stability ARI means repeated initializations find almost the same assignments. The moderate silhouette score shows overlap, so the groups should be presented as broad behavioral segments, not natural risk classes.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tested configuration produced multiple credible density clusters. Keeping the method as anomaly exploration is a scientifically useful negative result. Never call the noise points fraud.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feature contract is deterministic. Demographic fields are excluded from prediction and reserved for aggregate auditing. Histogram gradient boosting uses gradient-based tree updates, not Adam or SGD.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real notebook curves are shown here. Validation loss plateaus while training loss keeps falling, especially in fold three. Raising the 600-iteration cap would not improve this run.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is the actual validation result. The selected threshold maximizes validation F1. Lowering the threshold flags more positives, improving recall while increasing false positives.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selected threshold, the confusion matrix contains 2,055 true negatives, 281 false positives, 305 false negatives, and 359 true positives. Compare this operating point with threshold 0.50 and explain the tradeoff.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main engineering lesson: trustworthy ML is not a contest for the largest metric. The project demonstrates leakage control, reproducibility, method selection, calibration, and honest communication of limitations.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ustomer-intelligence-banner.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4617720"/>
            <a:ext cx="12191695" cy="2240280"/>
          </a:xfrm>
          <a:prstGeom prst="rect">
            <a:avLst/>
          </a:prstGeom>
          <a:solidFill>
            <a:srgbClr val="07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17720"/>
            <a:ext cx="91440" cy="2240280"/>
          </a:xfrm>
          <a:prstGeom prst="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4" y="4882896"/>
            <a:ext cx="8046720" cy="585216"/>
          </a:xfrm>
          <a:prstGeom prst="rect">
            <a:avLst/>
          </a:prstGeom>
          <a:noFill/>
        </p:spPr>
        <p:txBody>
          <a:bodyPr wrap="square" lIns="27432" rIns="27432" tIns="27432" bIns="27432" anchor="t">
            <a:spAutoFit/>
          </a:bodyPr>
          <a:lstStyle/>
          <a:p>
            <a:pPr algn="l">
              <a:lnSpc>
                <a:spcPct val="100000"/>
              </a:lnSpc>
            </a:pPr>
            <a:r>
              <a:rPr sz="3400" b="1">
                <a:solidFill>
                  <a:srgbClr val="F7FAFF"/>
                </a:solidFill>
                <a:latin typeface="Aptos"/>
              </a:rPr>
              <a:t>CUSTOMER INTELLIGENCE</a:t>
            </a:r>
          </a:p>
        </p:txBody>
      </p:sp>
      <p:sp>
        <p:nvSpPr>
          <p:cNvPr id="6" name="TextBox 5"/>
          <p:cNvSpPr txBox="1"/>
          <p:nvPr/>
        </p:nvSpPr>
        <p:spPr>
          <a:xfrm>
            <a:off x="621792" y="5522976"/>
            <a:ext cx="9966960" cy="512064"/>
          </a:xfrm>
          <a:prstGeom prst="rect">
            <a:avLst/>
          </a:prstGeom>
          <a:noFill/>
        </p:spPr>
        <p:txBody>
          <a:bodyPr wrap="square" lIns="27432" rIns="27432" tIns="27432" bIns="27432" anchor="t">
            <a:spAutoFit/>
          </a:bodyPr>
          <a:lstStyle/>
          <a:p>
            <a:pPr algn="l">
              <a:lnSpc>
                <a:spcPct val="100000"/>
              </a:lnSpc>
            </a:pPr>
            <a:r>
              <a:rPr sz="1700" b="0">
                <a:solidFill>
                  <a:srgbClr val="AFC0D1"/>
                </a:solidFill>
                <a:latin typeface="Aptos"/>
              </a:rPr>
              <a:t>Segmentation, anomaly exploration, dimensionality reduction, and calibrated default-risk modeling</a:t>
            </a:r>
          </a:p>
        </p:txBody>
      </p:sp>
      <p:sp>
        <p:nvSpPr>
          <p:cNvPr id="7" name="TextBox 6"/>
          <p:cNvSpPr txBox="1"/>
          <p:nvPr/>
        </p:nvSpPr>
        <p:spPr>
          <a:xfrm>
            <a:off x="621792" y="6153912"/>
            <a:ext cx="2926080" cy="219456"/>
          </a:xfrm>
          <a:prstGeom prst="rect">
            <a:avLst/>
          </a:prstGeom>
          <a:noFill/>
        </p:spPr>
        <p:txBody>
          <a:bodyPr wrap="square" lIns="27432" rIns="27432" tIns="27432" bIns="27432" anchor="t">
            <a:spAutoFit/>
          </a:bodyPr>
          <a:lstStyle/>
          <a:p>
            <a:pPr algn="l">
              <a:lnSpc>
                <a:spcPct val="100000"/>
              </a:lnSpc>
            </a:pPr>
            <a:r>
              <a:rPr sz="1000" b="1">
                <a:solidFill>
                  <a:srgbClr val="55D7E3"/>
                </a:solidFill>
                <a:latin typeface="Aptos"/>
              </a:rPr>
              <a:t>ML PORTFOLIO CASE STUDY</a:t>
            </a:r>
          </a:p>
        </p:txBody>
      </p:sp>
      <p:sp>
        <p:nvSpPr>
          <p:cNvPr id="8" name="TextBox 7"/>
          <p:cNvSpPr txBox="1"/>
          <p:nvPr/>
        </p:nvSpPr>
        <p:spPr>
          <a:xfrm>
            <a:off x="7516368" y="6144768"/>
            <a:ext cx="4096512" cy="201168"/>
          </a:xfrm>
          <a:prstGeom prst="rect">
            <a:avLst/>
          </a:prstGeom>
          <a:noFill/>
        </p:spPr>
        <p:txBody>
          <a:bodyPr wrap="square" lIns="27432" rIns="27432" tIns="27432" bIns="27432" anchor="t">
            <a:spAutoFit/>
          </a:bodyPr>
          <a:lstStyle/>
          <a:p>
            <a:pPr algn="r">
              <a:lnSpc>
                <a:spcPct val="100000"/>
              </a:lnSpc>
            </a:pPr>
            <a:r>
              <a:rPr sz="950" b="0">
                <a:solidFill>
                  <a:srgbClr val="AFC0D1"/>
                </a:solidFill>
                <a:latin typeface="Aptos"/>
              </a:rPr>
              <a:t>github.com/Awais-Asghar/customer-intelligence-ml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BUSINESS FRAMING</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Four questions, four methods</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02</a:t>
            </a:r>
          </a:p>
        </p:txBody>
      </p:sp>
      <p:sp>
        <p:nvSpPr>
          <p:cNvPr id="7" name="Rounded Rectangle 6"/>
          <p:cNvSpPr/>
          <p:nvPr/>
        </p:nvSpPr>
        <p:spPr>
          <a:xfrm>
            <a:off x="530352" y="1261872"/>
            <a:ext cx="2487168" cy="4187952"/>
          </a:xfrm>
          <a:prstGeom prst="roundRect">
            <a:avLst/>
          </a:prstGeom>
          <a:solidFill>
            <a:srgbClr val="102842"/>
          </a:solidFill>
          <a:ln w="17780">
            <a:solidFill>
              <a:srgbClr val="55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426463"/>
            <a:ext cx="502920" cy="384048"/>
          </a:xfrm>
          <a:prstGeom prst="rect">
            <a:avLst/>
          </a:prstGeom>
          <a:noFill/>
        </p:spPr>
        <p:txBody>
          <a:bodyPr wrap="square" lIns="27432" rIns="27432" tIns="27432" bIns="27432" anchor="t">
            <a:spAutoFit/>
          </a:bodyPr>
          <a:lstStyle/>
          <a:p>
            <a:pPr algn="l">
              <a:lnSpc>
                <a:spcPct val="100000"/>
              </a:lnSpc>
            </a:pPr>
            <a:r>
              <a:rPr sz="2000" b="1">
                <a:solidFill>
                  <a:srgbClr val="55D7E3"/>
                </a:solidFill>
                <a:latin typeface="Aptos"/>
              </a:rPr>
              <a:t>01</a:t>
            </a:r>
          </a:p>
        </p:txBody>
      </p:sp>
      <p:sp>
        <p:nvSpPr>
          <p:cNvPr id="9" name="TextBox 8"/>
          <p:cNvSpPr txBox="1"/>
          <p:nvPr/>
        </p:nvSpPr>
        <p:spPr>
          <a:xfrm>
            <a:off x="749808" y="1975104"/>
            <a:ext cx="2048256" cy="365760"/>
          </a:xfrm>
          <a:prstGeom prst="rect">
            <a:avLst/>
          </a:prstGeom>
          <a:noFill/>
        </p:spPr>
        <p:txBody>
          <a:bodyPr wrap="square" lIns="27432" rIns="27432" tIns="27432" bIns="27432" anchor="t">
            <a:spAutoFit/>
          </a:bodyPr>
          <a:lstStyle/>
          <a:p>
            <a:pPr algn="l">
              <a:lnSpc>
                <a:spcPct val="100000"/>
              </a:lnSpc>
            </a:pPr>
            <a:r>
              <a:rPr sz="1900" b="1">
                <a:solidFill>
                  <a:srgbClr val="F7FAFF"/>
                </a:solidFill>
                <a:latin typeface="Aptos"/>
              </a:rPr>
              <a:t>PCA</a:t>
            </a:r>
          </a:p>
        </p:txBody>
      </p:sp>
      <p:sp>
        <p:nvSpPr>
          <p:cNvPr id="10" name="TextBox 9"/>
          <p:cNvSpPr txBox="1"/>
          <p:nvPr/>
        </p:nvSpPr>
        <p:spPr>
          <a:xfrm>
            <a:off x="749808" y="2505456"/>
            <a:ext cx="2048256" cy="960120"/>
          </a:xfrm>
          <a:prstGeom prst="rect">
            <a:avLst/>
          </a:prstGeom>
          <a:noFill/>
        </p:spPr>
        <p:txBody>
          <a:bodyPr wrap="square" lIns="27432" rIns="27432" tIns="27432" bIns="27432" anchor="t">
            <a:spAutoFit/>
          </a:bodyPr>
          <a:lstStyle/>
          <a:p>
            <a:pPr algn="l">
              <a:lnSpc>
                <a:spcPct val="100000"/>
              </a:lnSpc>
            </a:pPr>
            <a:r>
              <a:rPr sz="1600" b="0">
                <a:solidFill>
                  <a:srgbClr val="F7FAFF"/>
                </a:solidFill>
                <a:latin typeface="Aptos"/>
              </a:rPr>
              <a:t>What structure explains most variation?</a:t>
            </a:r>
          </a:p>
        </p:txBody>
      </p:sp>
      <p:sp>
        <p:nvSpPr>
          <p:cNvPr id="11" name="TextBox 10"/>
          <p:cNvSpPr txBox="1"/>
          <p:nvPr/>
        </p:nvSpPr>
        <p:spPr>
          <a:xfrm>
            <a:off x="749808" y="3776472"/>
            <a:ext cx="2048256"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ROLE</a:t>
            </a:r>
          </a:p>
        </p:txBody>
      </p:sp>
      <p:sp>
        <p:nvSpPr>
          <p:cNvPr id="12" name="TextBox 11"/>
          <p:cNvSpPr txBox="1"/>
          <p:nvPr/>
        </p:nvSpPr>
        <p:spPr>
          <a:xfrm>
            <a:off x="749808" y="4078224"/>
            <a:ext cx="2048256" cy="932688"/>
          </a:xfrm>
          <a:prstGeom prst="rect">
            <a:avLst/>
          </a:prstGeom>
          <a:noFill/>
        </p:spPr>
        <p:txBody>
          <a:bodyPr wrap="square" lIns="27432" rIns="27432" tIns="27432" bIns="27432" anchor="t">
            <a:spAutoFit/>
          </a:bodyPr>
          <a:lstStyle/>
          <a:p>
            <a:pPr algn="l">
              <a:lnSpc>
                <a:spcPct val="100000"/>
              </a:lnSpc>
            </a:pPr>
            <a:r>
              <a:rPr sz="1350" b="0">
                <a:solidFill>
                  <a:srgbClr val="AFC0D1"/>
                </a:solidFill>
                <a:latin typeface="Aptos"/>
              </a:rPr>
              <a:t>Compression and visualization</a:t>
            </a:r>
          </a:p>
        </p:txBody>
      </p:sp>
      <p:sp>
        <p:nvSpPr>
          <p:cNvPr id="13" name="Rounded Rectangle 12"/>
          <p:cNvSpPr/>
          <p:nvPr/>
        </p:nvSpPr>
        <p:spPr>
          <a:xfrm>
            <a:off x="3410712" y="1261872"/>
            <a:ext cx="2487168" cy="4187952"/>
          </a:xfrm>
          <a:prstGeom prst="roundRect">
            <a:avLst/>
          </a:prstGeom>
          <a:solidFill>
            <a:srgbClr val="102842"/>
          </a:solidFill>
          <a:ln w="17780">
            <a:solidFill>
              <a:srgbClr val="4E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0168" y="1426463"/>
            <a:ext cx="502920" cy="384048"/>
          </a:xfrm>
          <a:prstGeom prst="rect">
            <a:avLst/>
          </a:prstGeom>
          <a:noFill/>
        </p:spPr>
        <p:txBody>
          <a:bodyPr wrap="square" lIns="27432" rIns="27432" tIns="27432" bIns="27432" anchor="t">
            <a:spAutoFit/>
          </a:bodyPr>
          <a:lstStyle/>
          <a:p>
            <a:pPr algn="l">
              <a:lnSpc>
                <a:spcPct val="100000"/>
              </a:lnSpc>
            </a:pPr>
            <a:r>
              <a:rPr sz="2000" b="1">
                <a:solidFill>
                  <a:srgbClr val="4E8DFF"/>
                </a:solidFill>
                <a:latin typeface="Aptos"/>
              </a:rPr>
              <a:t>02</a:t>
            </a:r>
          </a:p>
        </p:txBody>
      </p:sp>
      <p:sp>
        <p:nvSpPr>
          <p:cNvPr id="15" name="TextBox 14"/>
          <p:cNvSpPr txBox="1"/>
          <p:nvPr/>
        </p:nvSpPr>
        <p:spPr>
          <a:xfrm>
            <a:off x="3630168" y="1975104"/>
            <a:ext cx="2048256" cy="365760"/>
          </a:xfrm>
          <a:prstGeom prst="rect">
            <a:avLst/>
          </a:prstGeom>
          <a:noFill/>
        </p:spPr>
        <p:txBody>
          <a:bodyPr wrap="square" lIns="27432" rIns="27432" tIns="27432" bIns="27432" anchor="t">
            <a:spAutoFit/>
          </a:bodyPr>
          <a:lstStyle/>
          <a:p>
            <a:pPr algn="l">
              <a:lnSpc>
                <a:spcPct val="100000"/>
              </a:lnSpc>
            </a:pPr>
            <a:r>
              <a:rPr sz="1900" b="1">
                <a:solidFill>
                  <a:srgbClr val="F7FAFF"/>
                </a:solidFill>
                <a:latin typeface="Aptos"/>
              </a:rPr>
              <a:t>K-Means</a:t>
            </a:r>
          </a:p>
        </p:txBody>
      </p:sp>
      <p:sp>
        <p:nvSpPr>
          <p:cNvPr id="16" name="TextBox 15"/>
          <p:cNvSpPr txBox="1"/>
          <p:nvPr/>
        </p:nvSpPr>
        <p:spPr>
          <a:xfrm>
            <a:off x="3630168" y="2505456"/>
            <a:ext cx="2048256" cy="960120"/>
          </a:xfrm>
          <a:prstGeom prst="rect">
            <a:avLst/>
          </a:prstGeom>
          <a:noFill/>
        </p:spPr>
        <p:txBody>
          <a:bodyPr wrap="square" lIns="27432" rIns="27432" tIns="27432" bIns="27432" anchor="t">
            <a:spAutoFit/>
          </a:bodyPr>
          <a:lstStyle/>
          <a:p>
            <a:pPr algn="l">
              <a:lnSpc>
                <a:spcPct val="100000"/>
              </a:lnSpc>
            </a:pPr>
            <a:r>
              <a:rPr sz="1600" b="0">
                <a:solidFill>
                  <a:srgbClr val="F7FAFF"/>
                </a:solidFill>
                <a:latin typeface="Aptos"/>
              </a:rPr>
              <a:t>Which broad behaviors repeat?</a:t>
            </a:r>
          </a:p>
        </p:txBody>
      </p:sp>
      <p:sp>
        <p:nvSpPr>
          <p:cNvPr id="17" name="TextBox 16"/>
          <p:cNvSpPr txBox="1"/>
          <p:nvPr/>
        </p:nvSpPr>
        <p:spPr>
          <a:xfrm>
            <a:off x="3630168" y="3776472"/>
            <a:ext cx="2048256" cy="201168"/>
          </a:xfrm>
          <a:prstGeom prst="rect">
            <a:avLst/>
          </a:prstGeom>
          <a:noFill/>
        </p:spPr>
        <p:txBody>
          <a:bodyPr wrap="square" lIns="27432" rIns="27432" tIns="27432" bIns="27432" anchor="t">
            <a:spAutoFit/>
          </a:bodyPr>
          <a:lstStyle/>
          <a:p>
            <a:pPr algn="l">
              <a:lnSpc>
                <a:spcPct val="100000"/>
              </a:lnSpc>
            </a:pPr>
            <a:r>
              <a:rPr sz="950" b="1">
                <a:solidFill>
                  <a:srgbClr val="4E8DFF"/>
                </a:solidFill>
                <a:latin typeface="Aptos"/>
              </a:rPr>
              <a:t>ROLE</a:t>
            </a:r>
          </a:p>
        </p:txBody>
      </p:sp>
      <p:sp>
        <p:nvSpPr>
          <p:cNvPr id="18" name="TextBox 17"/>
          <p:cNvSpPr txBox="1"/>
          <p:nvPr/>
        </p:nvSpPr>
        <p:spPr>
          <a:xfrm>
            <a:off x="3630168" y="4078224"/>
            <a:ext cx="2048256" cy="932688"/>
          </a:xfrm>
          <a:prstGeom prst="rect">
            <a:avLst/>
          </a:prstGeom>
          <a:noFill/>
        </p:spPr>
        <p:txBody>
          <a:bodyPr wrap="square" lIns="27432" rIns="27432" tIns="27432" bIns="27432" anchor="t">
            <a:spAutoFit/>
          </a:bodyPr>
          <a:lstStyle/>
          <a:p>
            <a:pPr algn="l">
              <a:lnSpc>
                <a:spcPct val="100000"/>
              </a:lnSpc>
            </a:pPr>
            <a:r>
              <a:rPr sz="1350" b="0">
                <a:solidFill>
                  <a:srgbClr val="AFC0D1"/>
                </a:solidFill>
                <a:latin typeface="Aptos"/>
              </a:rPr>
              <a:t>Descriptive segmentation</a:t>
            </a:r>
          </a:p>
        </p:txBody>
      </p:sp>
      <p:sp>
        <p:nvSpPr>
          <p:cNvPr id="19" name="Rounded Rectangle 18"/>
          <p:cNvSpPr/>
          <p:nvPr/>
        </p:nvSpPr>
        <p:spPr>
          <a:xfrm>
            <a:off x="6291072" y="1261872"/>
            <a:ext cx="2487168" cy="4187952"/>
          </a:xfrm>
          <a:prstGeom prst="roundRect">
            <a:avLst/>
          </a:prstGeom>
          <a:solidFill>
            <a:srgbClr val="102842"/>
          </a:solidFill>
          <a:ln w="17780">
            <a:solidFill>
              <a:srgbClr val="947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10528" y="1426463"/>
            <a:ext cx="502920" cy="384048"/>
          </a:xfrm>
          <a:prstGeom prst="rect">
            <a:avLst/>
          </a:prstGeom>
          <a:noFill/>
        </p:spPr>
        <p:txBody>
          <a:bodyPr wrap="square" lIns="27432" rIns="27432" tIns="27432" bIns="27432" anchor="t">
            <a:spAutoFit/>
          </a:bodyPr>
          <a:lstStyle/>
          <a:p>
            <a:pPr algn="l">
              <a:lnSpc>
                <a:spcPct val="100000"/>
              </a:lnSpc>
            </a:pPr>
            <a:r>
              <a:rPr sz="2000" b="1">
                <a:solidFill>
                  <a:srgbClr val="947CFF"/>
                </a:solidFill>
                <a:latin typeface="Aptos"/>
              </a:rPr>
              <a:t>03</a:t>
            </a:r>
          </a:p>
        </p:txBody>
      </p:sp>
      <p:sp>
        <p:nvSpPr>
          <p:cNvPr id="21" name="TextBox 20"/>
          <p:cNvSpPr txBox="1"/>
          <p:nvPr/>
        </p:nvSpPr>
        <p:spPr>
          <a:xfrm>
            <a:off x="6510528" y="1975104"/>
            <a:ext cx="2048256" cy="365760"/>
          </a:xfrm>
          <a:prstGeom prst="rect">
            <a:avLst/>
          </a:prstGeom>
          <a:noFill/>
        </p:spPr>
        <p:txBody>
          <a:bodyPr wrap="square" lIns="27432" rIns="27432" tIns="27432" bIns="27432" anchor="t">
            <a:spAutoFit/>
          </a:bodyPr>
          <a:lstStyle/>
          <a:p>
            <a:pPr algn="l">
              <a:lnSpc>
                <a:spcPct val="100000"/>
              </a:lnSpc>
            </a:pPr>
            <a:r>
              <a:rPr sz="1900" b="1">
                <a:solidFill>
                  <a:srgbClr val="F7FAFF"/>
                </a:solidFill>
                <a:latin typeface="Aptos"/>
              </a:rPr>
              <a:t>DBSCAN</a:t>
            </a:r>
          </a:p>
        </p:txBody>
      </p:sp>
      <p:sp>
        <p:nvSpPr>
          <p:cNvPr id="22" name="TextBox 21"/>
          <p:cNvSpPr txBox="1"/>
          <p:nvPr/>
        </p:nvSpPr>
        <p:spPr>
          <a:xfrm>
            <a:off x="6510528" y="2505456"/>
            <a:ext cx="2048256" cy="960120"/>
          </a:xfrm>
          <a:prstGeom prst="rect">
            <a:avLst/>
          </a:prstGeom>
          <a:noFill/>
        </p:spPr>
        <p:txBody>
          <a:bodyPr wrap="square" lIns="27432" rIns="27432" tIns="27432" bIns="27432" anchor="t">
            <a:spAutoFit/>
          </a:bodyPr>
          <a:lstStyle/>
          <a:p>
            <a:pPr algn="l">
              <a:lnSpc>
                <a:spcPct val="100000"/>
              </a:lnSpc>
            </a:pPr>
            <a:r>
              <a:rPr sz="1600" b="0">
                <a:solidFill>
                  <a:srgbClr val="F7FAFF"/>
                </a:solidFill>
                <a:latin typeface="Aptos"/>
              </a:rPr>
              <a:t>Which records are locally sparse?</a:t>
            </a:r>
          </a:p>
        </p:txBody>
      </p:sp>
      <p:sp>
        <p:nvSpPr>
          <p:cNvPr id="23" name="TextBox 22"/>
          <p:cNvSpPr txBox="1"/>
          <p:nvPr/>
        </p:nvSpPr>
        <p:spPr>
          <a:xfrm>
            <a:off x="6510528" y="3776472"/>
            <a:ext cx="2048256" cy="201168"/>
          </a:xfrm>
          <a:prstGeom prst="rect">
            <a:avLst/>
          </a:prstGeom>
          <a:noFill/>
        </p:spPr>
        <p:txBody>
          <a:bodyPr wrap="square" lIns="27432" rIns="27432" tIns="27432" bIns="27432" anchor="t">
            <a:spAutoFit/>
          </a:bodyPr>
          <a:lstStyle/>
          <a:p>
            <a:pPr algn="l">
              <a:lnSpc>
                <a:spcPct val="100000"/>
              </a:lnSpc>
            </a:pPr>
            <a:r>
              <a:rPr sz="950" b="1">
                <a:solidFill>
                  <a:srgbClr val="947CFF"/>
                </a:solidFill>
                <a:latin typeface="Aptos"/>
              </a:rPr>
              <a:t>ROLE</a:t>
            </a:r>
          </a:p>
        </p:txBody>
      </p:sp>
      <p:sp>
        <p:nvSpPr>
          <p:cNvPr id="24" name="TextBox 23"/>
          <p:cNvSpPr txBox="1"/>
          <p:nvPr/>
        </p:nvSpPr>
        <p:spPr>
          <a:xfrm>
            <a:off x="6510528" y="4078224"/>
            <a:ext cx="2048256" cy="932688"/>
          </a:xfrm>
          <a:prstGeom prst="rect">
            <a:avLst/>
          </a:prstGeom>
          <a:noFill/>
        </p:spPr>
        <p:txBody>
          <a:bodyPr wrap="square" lIns="27432" rIns="27432" tIns="27432" bIns="27432" anchor="t">
            <a:spAutoFit/>
          </a:bodyPr>
          <a:lstStyle/>
          <a:p>
            <a:pPr algn="l">
              <a:lnSpc>
                <a:spcPct val="100000"/>
              </a:lnSpc>
            </a:pPr>
            <a:r>
              <a:rPr sz="1350" b="0">
                <a:solidFill>
                  <a:srgbClr val="AFC0D1"/>
                </a:solidFill>
                <a:latin typeface="Aptos"/>
              </a:rPr>
              <a:t>Anomaly exploration</a:t>
            </a:r>
          </a:p>
        </p:txBody>
      </p:sp>
      <p:sp>
        <p:nvSpPr>
          <p:cNvPr id="25" name="Rounded Rectangle 24"/>
          <p:cNvSpPr/>
          <p:nvPr/>
        </p:nvSpPr>
        <p:spPr>
          <a:xfrm>
            <a:off x="9171432" y="1261872"/>
            <a:ext cx="2487168" cy="4187952"/>
          </a:xfrm>
          <a:prstGeom prst="roundRect">
            <a:avLst/>
          </a:prstGeom>
          <a:solidFill>
            <a:srgbClr val="102842"/>
          </a:solidFill>
          <a:ln w="17780">
            <a:solidFill>
              <a:srgbClr val="FF9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90888" y="1426463"/>
            <a:ext cx="502920" cy="384048"/>
          </a:xfrm>
          <a:prstGeom prst="rect">
            <a:avLst/>
          </a:prstGeom>
          <a:noFill/>
        </p:spPr>
        <p:txBody>
          <a:bodyPr wrap="square" lIns="27432" rIns="27432" tIns="27432" bIns="27432" anchor="t">
            <a:spAutoFit/>
          </a:bodyPr>
          <a:lstStyle/>
          <a:p>
            <a:pPr algn="l">
              <a:lnSpc>
                <a:spcPct val="100000"/>
              </a:lnSpc>
            </a:pPr>
            <a:r>
              <a:rPr sz="2000" b="1">
                <a:solidFill>
                  <a:srgbClr val="FF9C5B"/>
                </a:solidFill>
                <a:latin typeface="Aptos"/>
              </a:rPr>
              <a:t>04</a:t>
            </a:r>
          </a:p>
        </p:txBody>
      </p:sp>
      <p:sp>
        <p:nvSpPr>
          <p:cNvPr id="27" name="TextBox 26"/>
          <p:cNvSpPr txBox="1"/>
          <p:nvPr/>
        </p:nvSpPr>
        <p:spPr>
          <a:xfrm>
            <a:off x="9390888" y="1975104"/>
            <a:ext cx="2048256" cy="365760"/>
          </a:xfrm>
          <a:prstGeom prst="rect">
            <a:avLst/>
          </a:prstGeom>
          <a:noFill/>
        </p:spPr>
        <p:txBody>
          <a:bodyPr wrap="square" lIns="27432" rIns="27432" tIns="27432" bIns="27432" anchor="t">
            <a:spAutoFit/>
          </a:bodyPr>
          <a:lstStyle/>
          <a:p>
            <a:pPr algn="l">
              <a:lnSpc>
                <a:spcPct val="100000"/>
              </a:lnSpc>
            </a:pPr>
            <a:r>
              <a:rPr sz="1900" b="1">
                <a:solidFill>
                  <a:srgbClr val="F7FAFF"/>
                </a:solidFill>
                <a:latin typeface="Aptos"/>
              </a:rPr>
              <a:t>Boosting</a:t>
            </a:r>
          </a:p>
        </p:txBody>
      </p:sp>
      <p:sp>
        <p:nvSpPr>
          <p:cNvPr id="28" name="TextBox 27"/>
          <p:cNvSpPr txBox="1"/>
          <p:nvPr/>
        </p:nvSpPr>
        <p:spPr>
          <a:xfrm>
            <a:off x="9390888" y="2505456"/>
            <a:ext cx="2048256" cy="960120"/>
          </a:xfrm>
          <a:prstGeom prst="rect">
            <a:avLst/>
          </a:prstGeom>
          <a:noFill/>
        </p:spPr>
        <p:txBody>
          <a:bodyPr wrap="square" lIns="27432" rIns="27432" tIns="27432" bIns="27432" anchor="t">
            <a:spAutoFit/>
          </a:bodyPr>
          <a:lstStyle/>
          <a:p>
            <a:pPr algn="l">
              <a:lnSpc>
                <a:spcPct val="100000"/>
              </a:lnSpc>
            </a:pPr>
            <a:r>
              <a:rPr sz="1600" b="0">
                <a:solidFill>
                  <a:srgbClr val="F7FAFF"/>
                </a:solidFill>
                <a:latin typeface="Aptos"/>
              </a:rPr>
              <a:t>How uncertain is historical default?</a:t>
            </a:r>
          </a:p>
        </p:txBody>
      </p:sp>
      <p:sp>
        <p:nvSpPr>
          <p:cNvPr id="29" name="TextBox 28"/>
          <p:cNvSpPr txBox="1"/>
          <p:nvPr/>
        </p:nvSpPr>
        <p:spPr>
          <a:xfrm>
            <a:off x="9390888" y="3776472"/>
            <a:ext cx="2048256" cy="201168"/>
          </a:xfrm>
          <a:prstGeom prst="rect">
            <a:avLst/>
          </a:prstGeom>
          <a:noFill/>
        </p:spPr>
        <p:txBody>
          <a:bodyPr wrap="square" lIns="27432" rIns="27432" tIns="27432" bIns="27432" anchor="t">
            <a:spAutoFit/>
          </a:bodyPr>
          <a:lstStyle/>
          <a:p>
            <a:pPr algn="l">
              <a:lnSpc>
                <a:spcPct val="100000"/>
              </a:lnSpc>
            </a:pPr>
            <a:r>
              <a:rPr sz="950" b="1">
                <a:solidFill>
                  <a:srgbClr val="FF9C5B"/>
                </a:solidFill>
                <a:latin typeface="Aptos"/>
              </a:rPr>
              <a:t>ROLE</a:t>
            </a:r>
          </a:p>
        </p:txBody>
      </p:sp>
      <p:sp>
        <p:nvSpPr>
          <p:cNvPr id="30" name="TextBox 29"/>
          <p:cNvSpPr txBox="1"/>
          <p:nvPr/>
        </p:nvSpPr>
        <p:spPr>
          <a:xfrm>
            <a:off x="9390888" y="4078224"/>
            <a:ext cx="2048256" cy="932688"/>
          </a:xfrm>
          <a:prstGeom prst="rect">
            <a:avLst/>
          </a:prstGeom>
          <a:noFill/>
        </p:spPr>
        <p:txBody>
          <a:bodyPr wrap="square" lIns="27432" rIns="27432" tIns="27432" bIns="27432" anchor="t">
            <a:spAutoFit/>
          </a:bodyPr>
          <a:lstStyle/>
          <a:p>
            <a:pPr algn="l">
              <a:lnSpc>
                <a:spcPct val="100000"/>
              </a:lnSpc>
            </a:pPr>
            <a:r>
              <a:rPr sz="1350" b="0">
                <a:solidFill>
                  <a:srgbClr val="AFC0D1"/>
                </a:solidFill>
                <a:latin typeface="Aptos"/>
              </a:rPr>
              <a:t>Calibrated risk estimation</a:t>
            </a:r>
          </a:p>
        </p:txBody>
      </p:sp>
      <p:sp>
        <p:nvSpPr>
          <p:cNvPr id="31" name="Rounded Rectangle 30"/>
          <p:cNvSpPr/>
          <p:nvPr/>
        </p:nvSpPr>
        <p:spPr>
          <a:xfrm>
            <a:off x="1298448" y="5696712"/>
            <a:ext cx="9601200" cy="530352"/>
          </a:xfrm>
          <a:prstGeom prst="roundRect">
            <a:avLst/>
          </a:prstGeom>
          <a:solidFill>
            <a:srgbClr val="132F4D"/>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08760" y="5833872"/>
            <a:ext cx="9189720" cy="219456"/>
          </a:xfrm>
          <a:prstGeom prst="rect">
            <a:avLst/>
          </a:prstGeom>
          <a:noFill/>
        </p:spPr>
        <p:txBody>
          <a:bodyPr wrap="square" lIns="27432" rIns="27432" tIns="27432" bIns="27432" anchor="t">
            <a:spAutoFit/>
          </a:bodyPr>
          <a:lstStyle/>
          <a:p>
            <a:pPr algn="ctr">
              <a:lnSpc>
                <a:spcPct val="100000"/>
              </a:lnSpc>
            </a:pPr>
            <a:r>
              <a:rPr sz="1400" b="1">
                <a:solidFill>
                  <a:srgbClr val="F7FAFF"/>
                </a:solidFill>
                <a:latin typeface="Aptos"/>
              </a:rPr>
              <a:t>Clusters are not risk classes. Density noise is not fraud. Predictions are probabilities, not decisions.</a:t>
            </a:r>
          </a:p>
        </p:txBody>
      </p:sp>
      <p:sp>
        <p:nvSpPr>
          <p:cNvPr id="33" name="TextBox 32"/>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github.com/Awais-Asghar/customer-intelligence-ml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DATA</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A realistic, imbalanced credit dataset</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03</a:t>
            </a:r>
          </a:p>
        </p:txBody>
      </p:sp>
      <p:sp>
        <p:nvSpPr>
          <p:cNvPr id="7" name="Rounded Rectangle 6"/>
          <p:cNvSpPr/>
          <p:nvPr/>
        </p:nvSpPr>
        <p:spPr>
          <a:xfrm>
            <a:off x="530352" y="1216152"/>
            <a:ext cx="6492240" cy="4023360"/>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lass-distribution.png"/>
          <p:cNvPicPr>
            <a:picLocks noChangeAspect="1"/>
          </p:cNvPicPr>
          <p:nvPr/>
        </p:nvPicPr>
        <p:blipFill>
          <a:blip r:embed="rId2"/>
          <a:stretch>
            <a:fillRect/>
          </a:stretch>
        </p:blipFill>
        <p:spPr>
          <a:xfrm>
            <a:off x="585216" y="1433626"/>
            <a:ext cx="6382512" cy="3588410"/>
          </a:xfrm>
          <a:prstGeom prst="rect">
            <a:avLst/>
          </a:prstGeom>
        </p:spPr>
      </p:pic>
      <p:sp>
        <p:nvSpPr>
          <p:cNvPr id="9" name="Rounded Rectangle 8"/>
          <p:cNvSpPr/>
          <p:nvPr/>
        </p:nvSpPr>
        <p:spPr>
          <a:xfrm>
            <a:off x="7360920" y="1225296"/>
            <a:ext cx="1965960" cy="1078992"/>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225296"/>
            <a:ext cx="54864" cy="1078992"/>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25512" y="1335024"/>
            <a:ext cx="1691639" cy="496336"/>
          </a:xfrm>
          <a:prstGeom prst="rect">
            <a:avLst/>
          </a:prstGeom>
          <a:noFill/>
        </p:spPr>
        <p:txBody>
          <a:bodyPr wrap="square" lIns="27432" rIns="27432" tIns="27432" bIns="27432" anchor="t">
            <a:spAutoFit/>
          </a:bodyPr>
          <a:lstStyle/>
          <a:p>
            <a:pPr algn="l">
              <a:lnSpc>
                <a:spcPct val="100000"/>
              </a:lnSpc>
            </a:pPr>
            <a:r>
              <a:rPr sz="2300" b="1">
                <a:solidFill>
                  <a:srgbClr val="55D7E3"/>
                </a:solidFill>
                <a:latin typeface="Aptos"/>
              </a:rPr>
              <a:t>30,000</a:t>
            </a:r>
          </a:p>
        </p:txBody>
      </p:sp>
      <p:sp>
        <p:nvSpPr>
          <p:cNvPr id="12" name="TextBox 11"/>
          <p:cNvSpPr txBox="1"/>
          <p:nvPr/>
        </p:nvSpPr>
        <p:spPr>
          <a:xfrm>
            <a:off x="7525512" y="1840321"/>
            <a:ext cx="1691639" cy="302117"/>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CUSTOMER RECORDS</a:t>
            </a:r>
          </a:p>
        </p:txBody>
      </p:sp>
      <p:sp>
        <p:nvSpPr>
          <p:cNvPr id="13" name="Rounded Rectangle 12"/>
          <p:cNvSpPr/>
          <p:nvPr/>
        </p:nvSpPr>
        <p:spPr>
          <a:xfrm>
            <a:off x="9573768" y="1225296"/>
            <a:ext cx="2084831" cy="1078992"/>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573768" y="1225296"/>
            <a:ext cx="54864" cy="1078992"/>
          </a:xfrm>
          <a:prstGeom prst="rect">
            <a:avLst/>
          </a:prstGeom>
          <a:solidFill>
            <a:srgbClr val="4E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38360" y="1335024"/>
            <a:ext cx="1810511" cy="496336"/>
          </a:xfrm>
          <a:prstGeom prst="rect">
            <a:avLst/>
          </a:prstGeom>
          <a:noFill/>
        </p:spPr>
        <p:txBody>
          <a:bodyPr wrap="square" lIns="27432" rIns="27432" tIns="27432" bIns="27432" anchor="t">
            <a:spAutoFit/>
          </a:bodyPr>
          <a:lstStyle/>
          <a:p>
            <a:pPr algn="l">
              <a:lnSpc>
                <a:spcPct val="100000"/>
              </a:lnSpc>
            </a:pPr>
            <a:r>
              <a:rPr sz="2300" b="1">
                <a:solidFill>
                  <a:srgbClr val="4E8DFF"/>
                </a:solidFill>
                <a:latin typeface="Aptos"/>
              </a:rPr>
              <a:t>23</a:t>
            </a:r>
          </a:p>
        </p:txBody>
      </p:sp>
      <p:sp>
        <p:nvSpPr>
          <p:cNvPr id="16" name="TextBox 15"/>
          <p:cNvSpPr txBox="1"/>
          <p:nvPr/>
        </p:nvSpPr>
        <p:spPr>
          <a:xfrm>
            <a:off x="9738360" y="1840321"/>
            <a:ext cx="1810511" cy="302117"/>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RAW EXPLANATORY FEATURES</a:t>
            </a:r>
          </a:p>
        </p:txBody>
      </p:sp>
      <p:sp>
        <p:nvSpPr>
          <p:cNvPr id="17" name="Rounded Rectangle 16"/>
          <p:cNvSpPr/>
          <p:nvPr/>
        </p:nvSpPr>
        <p:spPr>
          <a:xfrm>
            <a:off x="7360920" y="2505456"/>
            <a:ext cx="1965960" cy="1078992"/>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60920" y="2505456"/>
            <a:ext cx="54864" cy="1078992"/>
          </a:xfrm>
          <a:prstGeom prst="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25512" y="2615184"/>
            <a:ext cx="1691639" cy="496336"/>
          </a:xfrm>
          <a:prstGeom prst="rect">
            <a:avLst/>
          </a:prstGeom>
          <a:noFill/>
        </p:spPr>
        <p:txBody>
          <a:bodyPr wrap="square" lIns="27432" rIns="27432" tIns="27432" bIns="27432" anchor="t">
            <a:spAutoFit/>
          </a:bodyPr>
          <a:lstStyle/>
          <a:p>
            <a:pPr algn="l">
              <a:lnSpc>
                <a:spcPct val="100000"/>
              </a:lnSpc>
            </a:pPr>
            <a:r>
              <a:rPr sz="2300" b="1">
                <a:solidFill>
                  <a:srgbClr val="FF9C5B"/>
                </a:solidFill>
                <a:latin typeface="Aptos"/>
              </a:rPr>
              <a:t>22.12%</a:t>
            </a:r>
          </a:p>
        </p:txBody>
      </p:sp>
      <p:sp>
        <p:nvSpPr>
          <p:cNvPr id="20" name="TextBox 19"/>
          <p:cNvSpPr txBox="1"/>
          <p:nvPr/>
        </p:nvSpPr>
        <p:spPr>
          <a:xfrm>
            <a:off x="7525512" y="3120481"/>
            <a:ext cx="1691639" cy="302117"/>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HISTORICAL DEFAULTS</a:t>
            </a:r>
          </a:p>
        </p:txBody>
      </p:sp>
      <p:sp>
        <p:nvSpPr>
          <p:cNvPr id="21" name="Rounded Rectangle 20"/>
          <p:cNvSpPr/>
          <p:nvPr/>
        </p:nvSpPr>
        <p:spPr>
          <a:xfrm>
            <a:off x="9573768" y="2505456"/>
            <a:ext cx="2084831" cy="1078992"/>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573768" y="2505456"/>
            <a:ext cx="54864" cy="1078992"/>
          </a:xfrm>
          <a:prstGeom prst="rect">
            <a:avLst/>
          </a:prstGeom>
          <a:solidFill>
            <a:srgbClr val="4ED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38360" y="2615184"/>
            <a:ext cx="1810511" cy="496336"/>
          </a:xfrm>
          <a:prstGeom prst="rect">
            <a:avLst/>
          </a:prstGeom>
          <a:noFill/>
        </p:spPr>
        <p:txBody>
          <a:bodyPr wrap="square" lIns="27432" rIns="27432" tIns="27432" bIns="27432" anchor="t">
            <a:spAutoFit/>
          </a:bodyPr>
          <a:lstStyle/>
          <a:p>
            <a:pPr algn="l">
              <a:lnSpc>
                <a:spcPct val="100000"/>
              </a:lnSpc>
            </a:pPr>
            <a:r>
              <a:rPr sz="2300" b="1">
                <a:solidFill>
                  <a:srgbClr val="4ED6A6"/>
                </a:solidFill>
                <a:latin typeface="Aptos"/>
              </a:rPr>
              <a:t>0</a:t>
            </a:r>
          </a:p>
        </p:txBody>
      </p:sp>
      <p:sp>
        <p:nvSpPr>
          <p:cNvPr id="24" name="TextBox 23"/>
          <p:cNvSpPr txBox="1"/>
          <p:nvPr/>
        </p:nvSpPr>
        <p:spPr>
          <a:xfrm>
            <a:off x="9738360" y="3120481"/>
            <a:ext cx="1810511" cy="302117"/>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MISSING VALUES</a:t>
            </a:r>
          </a:p>
        </p:txBody>
      </p:sp>
      <p:sp>
        <p:nvSpPr>
          <p:cNvPr id="25" name="Rounded Rectangle 24"/>
          <p:cNvSpPr/>
          <p:nvPr/>
        </p:nvSpPr>
        <p:spPr>
          <a:xfrm>
            <a:off x="7360920" y="3831336"/>
            <a:ext cx="4297680" cy="1408176"/>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4041648"/>
            <a:ext cx="3840480" cy="219456"/>
          </a:xfrm>
          <a:prstGeom prst="rect">
            <a:avLst/>
          </a:prstGeom>
          <a:noFill/>
        </p:spPr>
        <p:txBody>
          <a:bodyPr wrap="square" lIns="27432" rIns="27432" tIns="27432" bIns="27432" anchor="t">
            <a:spAutoFit/>
          </a:bodyPr>
          <a:lstStyle/>
          <a:p>
            <a:pPr algn="l">
              <a:lnSpc>
                <a:spcPct val="100000"/>
              </a:lnSpc>
            </a:pPr>
            <a:r>
              <a:rPr sz="1000" b="1">
                <a:solidFill>
                  <a:srgbClr val="FF9C5B"/>
                </a:solidFill>
                <a:latin typeface="Aptos"/>
              </a:rPr>
              <a:t>WHY ACCURACY IS NOT ENOUGH</a:t>
            </a:r>
          </a:p>
        </p:txBody>
      </p:sp>
      <p:sp>
        <p:nvSpPr>
          <p:cNvPr id="27" name="TextBox 26"/>
          <p:cNvSpPr txBox="1"/>
          <p:nvPr/>
        </p:nvSpPr>
        <p:spPr>
          <a:xfrm>
            <a:off x="7571231" y="4370832"/>
            <a:ext cx="3767328" cy="640080"/>
          </a:xfrm>
          <a:prstGeom prst="rect">
            <a:avLst/>
          </a:prstGeom>
          <a:noFill/>
        </p:spPr>
        <p:txBody>
          <a:bodyPr wrap="square" lIns="27432" rIns="27432" tIns="27432" bIns="27432" anchor="t">
            <a:spAutoFit/>
          </a:bodyPr>
          <a:lstStyle/>
          <a:p>
            <a:pPr algn="l">
              <a:lnSpc>
                <a:spcPct val="100000"/>
              </a:lnSpc>
            </a:pPr>
            <a:r>
              <a:rPr sz="1450" b="0">
                <a:solidFill>
                  <a:srgbClr val="F7FAFF"/>
                </a:solidFill>
                <a:latin typeface="Aptos"/>
              </a:rPr>
              <a:t>A model that predicts only the majority class would appear accurate while missing every historical default.</a:t>
            </a:r>
          </a:p>
        </p:txBody>
      </p:sp>
      <p:sp>
        <p:nvSpPr>
          <p:cNvPr id="28" name="Rounded Rectangle 27"/>
          <p:cNvSpPr/>
          <p:nvPr/>
        </p:nvSpPr>
        <p:spPr>
          <a:xfrm>
            <a:off x="530352" y="5513832"/>
            <a:ext cx="11128248" cy="658368"/>
          </a:xfrm>
          <a:prstGeom prst="roundRect">
            <a:avLst/>
          </a:prstGeom>
          <a:solidFill>
            <a:srgbClr val="132F4D"/>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 y="5687568"/>
            <a:ext cx="621792" cy="201168"/>
          </a:xfrm>
          <a:prstGeom prst="rect">
            <a:avLst/>
          </a:prstGeom>
          <a:noFill/>
        </p:spPr>
        <p:txBody>
          <a:bodyPr wrap="square" lIns="27432" rIns="27432" tIns="27432" bIns="27432" anchor="t">
            <a:spAutoFit/>
          </a:bodyPr>
          <a:lstStyle/>
          <a:p>
            <a:pPr algn="l">
              <a:lnSpc>
                <a:spcPct val="100000"/>
              </a:lnSpc>
            </a:pPr>
            <a:r>
              <a:rPr sz="1000" b="1">
                <a:solidFill>
                  <a:srgbClr val="55D7E3"/>
                </a:solidFill>
                <a:latin typeface="Aptos"/>
              </a:rPr>
              <a:t>Source</a:t>
            </a:r>
          </a:p>
        </p:txBody>
      </p:sp>
      <p:sp>
        <p:nvSpPr>
          <p:cNvPr id="30" name="TextBox 29"/>
          <p:cNvSpPr txBox="1"/>
          <p:nvPr/>
        </p:nvSpPr>
        <p:spPr>
          <a:xfrm>
            <a:off x="1389888" y="5641848"/>
            <a:ext cx="5852160" cy="256032"/>
          </a:xfrm>
          <a:prstGeom prst="rect">
            <a:avLst/>
          </a:prstGeom>
          <a:noFill/>
        </p:spPr>
        <p:txBody>
          <a:bodyPr wrap="square" lIns="27432" rIns="27432" tIns="27432" bIns="27432" anchor="t">
            <a:spAutoFit/>
          </a:bodyPr>
          <a:lstStyle/>
          <a:p>
            <a:pPr algn="l">
              <a:lnSpc>
                <a:spcPct val="100000"/>
              </a:lnSpc>
            </a:pPr>
            <a:r>
              <a:rPr sz="1300" b="0">
                <a:solidFill>
                  <a:srgbClr val="F7FAFF"/>
                </a:solidFill>
                <a:latin typeface="Aptos"/>
              </a:rPr>
              <a:t>UCI Default of Credit Card Clients, dataset 350, CC BY 4.0</a:t>
            </a:r>
          </a:p>
        </p:txBody>
      </p:sp>
      <p:sp>
        <p:nvSpPr>
          <p:cNvPr id="31" name="TextBox 30"/>
          <p:cNvSpPr txBox="1"/>
          <p:nvPr/>
        </p:nvSpPr>
        <p:spPr>
          <a:xfrm>
            <a:off x="8001000" y="5687568"/>
            <a:ext cx="1298448" cy="201168"/>
          </a:xfrm>
          <a:prstGeom prst="rect">
            <a:avLst/>
          </a:prstGeom>
          <a:noFill/>
        </p:spPr>
        <p:txBody>
          <a:bodyPr wrap="square" lIns="27432" rIns="27432" tIns="27432" bIns="27432" anchor="t">
            <a:spAutoFit/>
          </a:bodyPr>
          <a:lstStyle/>
          <a:p>
            <a:pPr algn="l">
              <a:lnSpc>
                <a:spcPct val="100000"/>
              </a:lnSpc>
            </a:pPr>
            <a:r>
              <a:rPr sz="1000" b="1">
                <a:solidFill>
                  <a:srgbClr val="FF9C5B"/>
                </a:solidFill>
                <a:latin typeface="Aptos"/>
              </a:rPr>
              <a:t>Target prevalence</a:t>
            </a:r>
          </a:p>
        </p:txBody>
      </p:sp>
      <p:sp>
        <p:nvSpPr>
          <p:cNvPr id="32" name="TextBox 31"/>
          <p:cNvSpPr txBox="1"/>
          <p:nvPr/>
        </p:nvSpPr>
        <p:spPr>
          <a:xfrm>
            <a:off x="9299448" y="5641848"/>
            <a:ext cx="2084831" cy="256032"/>
          </a:xfrm>
          <a:prstGeom prst="rect">
            <a:avLst/>
          </a:prstGeom>
          <a:noFill/>
        </p:spPr>
        <p:txBody>
          <a:bodyPr wrap="square" lIns="27432" rIns="27432" tIns="27432" bIns="27432" anchor="t">
            <a:spAutoFit/>
          </a:bodyPr>
          <a:lstStyle/>
          <a:p>
            <a:pPr algn="l">
              <a:lnSpc>
                <a:spcPct val="100000"/>
              </a:lnSpc>
            </a:pPr>
            <a:r>
              <a:rPr sz="1300" b="0">
                <a:solidFill>
                  <a:srgbClr val="F7FAFF"/>
                </a:solidFill>
                <a:latin typeface="Aptos"/>
              </a:rPr>
              <a:t>6,636 positive records</a:t>
            </a:r>
          </a:p>
        </p:txBody>
      </p:sp>
      <p:sp>
        <p:nvSpPr>
          <p:cNvPr id="33" name="TextBox 32"/>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github.com/Awais-Asghar/customer-intelligence-ml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LEAKAGE CONTROL</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The test set stays closed until the end</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04</a:t>
            </a:r>
          </a:p>
        </p:txBody>
      </p:sp>
      <p:sp>
        <p:nvSpPr>
          <p:cNvPr id="7" name="Rounded Rectangle 6"/>
          <p:cNvSpPr/>
          <p:nvPr/>
        </p:nvSpPr>
        <p:spPr>
          <a:xfrm>
            <a:off x="612648" y="1353312"/>
            <a:ext cx="3502152" cy="1920240"/>
          </a:xfrm>
          <a:prstGeom prst="roundRect">
            <a:avLst/>
          </a:prstGeom>
          <a:solidFill>
            <a:srgbClr val="102842"/>
          </a:solidFill>
          <a:ln w="19050">
            <a:solidFill>
              <a:srgbClr val="55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 y="1572768"/>
            <a:ext cx="3063240" cy="292608"/>
          </a:xfrm>
          <a:prstGeom prst="rect">
            <a:avLst/>
          </a:prstGeom>
          <a:noFill/>
        </p:spPr>
        <p:txBody>
          <a:bodyPr wrap="square" lIns="27432" rIns="27432" tIns="27432" bIns="27432" anchor="t">
            <a:spAutoFit/>
          </a:bodyPr>
          <a:lstStyle/>
          <a:p>
            <a:pPr algn="l">
              <a:lnSpc>
                <a:spcPct val="100000"/>
              </a:lnSpc>
            </a:pPr>
            <a:r>
              <a:rPr sz="1700" b="1">
                <a:solidFill>
                  <a:srgbClr val="55D7E3"/>
                </a:solidFill>
                <a:latin typeface="Aptos"/>
              </a:rPr>
              <a:t>TRAIN</a:t>
            </a:r>
          </a:p>
        </p:txBody>
      </p:sp>
      <p:sp>
        <p:nvSpPr>
          <p:cNvPr id="9" name="TextBox 8"/>
          <p:cNvSpPr txBox="1"/>
          <p:nvPr/>
        </p:nvSpPr>
        <p:spPr>
          <a:xfrm>
            <a:off x="832104" y="1993392"/>
            <a:ext cx="3063240" cy="274320"/>
          </a:xfrm>
          <a:prstGeom prst="rect">
            <a:avLst/>
          </a:prstGeom>
          <a:noFill/>
        </p:spPr>
        <p:txBody>
          <a:bodyPr wrap="square" lIns="27432" rIns="27432" tIns="27432" bIns="27432" anchor="t">
            <a:spAutoFit/>
          </a:bodyPr>
          <a:lstStyle/>
          <a:p>
            <a:pPr algn="l">
              <a:lnSpc>
                <a:spcPct val="100000"/>
              </a:lnSpc>
            </a:pPr>
            <a:r>
              <a:rPr sz="1400" b="1">
                <a:solidFill>
                  <a:srgbClr val="F7FAFF"/>
                </a:solidFill>
                <a:latin typeface="Aptos"/>
              </a:rPr>
              <a:t>24,000 records | 80%</a:t>
            </a:r>
          </a:p>
        </p:txBody>
      </p:sp>
      <p:sp>
        <p:nvSpPr>
          <p:cNvPr id="10" name="TextBox 9"/>
          <p:cNvSpPr txBox="1"/>
          <p:nvPr/>
        </p:nvSpPr>
        <p:spPr>
          <a:xfrm>
            <a:off x="832104" y="2468880"/>
            <a:ext cx="3063240" cy="548640"/>
          </a:xfrm>
          <a:prstGeom prst="rect">
            <a:avLst/>
          </a:prstGeom>
          <a:noFill/>
        </p:spPr>
        <p:txBody>
          <a:bodyPr wrap="square" lIns="27432" rIns="27432" tIns="27432" bIns="27432" anchor="t">
            <a:spAutoFit/>
          </a:bodyPr>
          <a:lstStyle/>
          <a:p>
            <a:pPr algn="l">
              <a:lnSpc>
                <a:spcPct val="100000"/>
              </a:lnSpc>
            </a:pPr>
            <a:r>
              <a:rPr sz="1300" b="0">
                <a:solidFill>
                  <a:srgbClr val="AFC0D1"/>
                </a:solidFill>
                <a:latin typeface="Aptos"/>
              </a:rPr>
              <a:t>Candidate selection</a:t>
            </a:r>
            <a:br/>
            <a:r>
              <a:rPr sz="1300" b="0">
                <a:solidFill>
                  <a:srgbClr val="AFC0D1"/>
                </a:solidFill>
                <a:latin typeface="Aptos"/>
              </a:rPr>
              <a:t>Three-fold stratified CV</a:t>
            </a:r>
          </a:p>
        </p:txBody>
      </p:sp>
      <p:sp>
        <p:nvSpPr>
          <p:cNvPr id="11" name="Rounded Rectangle 10"/>
          <p:cNvSpPr/>
          <p:nvPr/>
        </p:nvSpPr>
        <p:spPr>
          <a:xfrm>
            <a:off x="4343400" y="1353312"/>
            <a:ext cx="3502152" cy="1920240"/>
          </a:xfrm>
          <a:prstGeom prst="roundRect">
            <a:avLst/>
          </a:prstGeom>
          <a:solidFill>
            <a:srgbClr val="102842"/>
          </a:solidFill>
          <a:ln w="19050">
            <a:solidFill>
              <a:srgbClr val="947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2856" y="1572768"/>
            <a:ext cx="3063240" cy="292608"/>
          </a:xfrm>
          <a:prstGeom prst="rect">
            <a:avLst/>
          </a:prstGeom>
          <a:noFill/>
        </p:spPr>
        <p:txBody>
          <a:bodyPr wrap="square" lIns="27432" rIns="27432" tIns="27432" bIns="27432" anchor="t">
            <a:spAutoFit/>
          </a:bodyPr>
          <a:lstStyle/>
          <a:p>
            <a:pPr algn="l">
              <a:lnSpc>
                <a:spcPct val="100000"/>
              </a:lnSpc>
            </a:pPr>
            <a:r>
              <a:rPr sz="1700" b="1">
                <a:solidFill>
                  <a:srgbClr val="947CFF"/>
                </a:solidFill>
                <a:latin typeface="Aptos"/>
              </a:rPr>
              <a:t>VALIDATION</a:t>
            </a:r>
          </a:p>
        </p:txBody>
      </p:sp>
      <p:sp>
        <p:nvSpPr>
          <p:cNvPr id="13" name="TextBox 12"/>
          <p:cNvSpPr txBox="1"/>
          <p:nvPr/>
        </p:nvSpPr>
        <p:spPr>
          <a:xfrm>
            <a:off x="4562856" y="1993392"/>
            <a:ext cx="3063240" cy="274320"/>
          </a:xfrm>
          <a:prstGeom prst="rect">
            <a:avLst/>
          </a:prstGeom>
          <a:noFill/>
        </p:spPr>
        <p:txBody>
          <a:bodyPr wrap="square" lIns="27432" rIns="27432" tIns="27432" bIns="27432" anchor="t">
            <a:spAutoFit/>
          </a:bodyPr>
          <a:lstStyle/>
          <a:p>
            <a:pPr algn="l">
              <a:lnSpc>
                <a:spcPct val="100000"/>
              </a:lnSpc>
            </a:pPr>
            <a:r>
              <a:rPr sz="1400" b="1">
                <a:solidFill>
                  <a:srgbClr val="F7FAFF"/>
                </a:solidFill>
                <a:latin typeface="Aptos"/>
              </a:rPr>
              <a:t>3,000 records | 10%</a:t>
            </a:r>
          </a:p>
        </p:txBody>
      </p:sp>
      <p:sp>
        <p:nvSpPr>
          <p:cNvPr id="14" name="TextBox 13"/>
          <p:cNvSpPr txBox="1"/>
          <p:nvPr/>
        </p:nvSpPr>
        <p:spPr>
          <a:xfrm>
            <a:off x="4562856" y="2468880"/>
            <a:ext cx="3063240" cy="548640"/>
          </a:xfrm>
          <a:prstGeom prst="rect">
            <a:avLst/>
          </a:prstGeom>
          <a:noFill/>
        </p:spPr>
        <p:txBody>
          <a:bodyPr wrap="square" lIns="27432" rIns="27432" tIns="27432" bIns="27432" anchor="t">
            <a:spAutoFit/>
          </a:bodyPr>
          <a:lstStyle/>
          <a:p>
            <a:pPr algn="l">
              <a:lnSpc>
                <a:spcPct val="100000"/>
              </a:lnSpc>
            </a:pPr>
            <a:r>
              <a:rPr sz="1300" b="0">
                <a:solidFill>
                  <a:srgbClr val="AFC0D1"/>
                </a:solidFill>
                <a:latin typeface="Aptos"/>
              </a:rPr>
              <a:t>Threshold selection</a:t>
            </a:r>
            <a:br/>
            <a:r>
              <a:rPr sz="1300" b="0">
                <a:solidFill>
                  <a:srgbClr val="AFC0D1"/>
                </a:solidFill>
                <a:latin typeface="Aptos"/>
              </a:rPr>
              <a:t>No candidate tuning</a:t>
            </a:r>
          </a:p>
        </p:txBody>
      </p:sp>
      <p:sp>
        <p:nvSpPr>
          <p:cNvPr id="15" name="Rounded Rectangle 14"/>
          <p:cNvSpPr/>
          <p:nvPr/>
        </p:nvSpPr>
        <p:spPr>
          <a:xfrm>
            <a:off x="8074152" y="1353312"/>
            <a:ext cx="3502152" cy="1920240"/>
          </a:xfrm>
          <a:prstGeom prst="roundRect">
            <a:avLst/>
          </a:prstGeom>
          <a:solidFill>
            <a:srgbClr val="102842"/>
          </a:solidFill>
          <a:ln w="19050">
            <a:solidFill>
              <a:srgbClr val="FF9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1572768"/>
            <a:ext cx="3063240" cy="292608"/>
          </a:xfrm>
          <a:prstGeom prst="rect">
            <a:avLst/>
          </a:prstGeom>
          <a:noFill/>
        </p:spPr>
        <p:txBody>
          <a:bodyPr wrap="square" lIns="27432" rIns="27432" tIns="27432" bIns="27432" anchor="t">
            <a:spAutoFit/>
          </a:bodyPr>
          <a:lstStyle/>
          <a:p>
            <a:pPr algn="l">
              <a:lnSpc>
                <a:spcPct val="100000"/>
              </a:lnSpc>
            </a:pPr>
            <a:r>
              <a:rPr sz="1700" b="1">
                <a:solidFill>
                  <a:srgbClr val="FF9C5B"/>
                </a:solidFill>
                <a:latin typeface="Aptos"/>
              </a:rPr>
              <a:t>TEST</a:t>
            </a:r>
          </a:p>
        </p:txBody>
      </p:sp>
      <p:sp>
        <p:nvSpPr>
          <p:cNvPr id="17" name="TextBox 16"/>
          <p:cNvSpPr txBox="1"/>
          <p:nvPr/>
        </p:nvSpPr>
        <p:spPr>
          <a:xfrm>
            <a:off x="8293608" y="1993392"/>
            <a:ext cx="3063240" cy="274320"/>
          </a:xfrm>
          <a:prstGeom prst="rect">
            <a:avLst/>
          </a:prstGeom>
          <a:noFill/>
        </p:spPr>
        <p:txBody>
          <a:bodyPr wrap="square" lIns="27432" rIns="27432" tIns="27432" bIns="27432" anchor="t">
            <a:spAutoFit/>
          </a:bodyPr>
          <a:lstStyle/>
          <a:p>
            <a:pPr algn="l">
              <a:lnSpc>
                <a:spcPct val="100000"/>
              </a:lnSpc>
            </a:pPr>
            <a:r>
              <a:rPr sz="1400" b="1">
                <a:solidFill>
                  <a:srgbClr val="F7FAFF"/>
                </a:solidFill>
                <a:latin typeface="Aptos"/>
              </a:rPr>
              <a:t>3,000 records | 10%</a:t>
            </a:r>
          </a:p>
        </p:txBody>
      </p:sp>
      <p:sp>
        <p:nvSpPr>
          <p:cNvPr id="18" name="TextBox 17"/>
          <p:cNvSpPr txBox="1"/>
          <p:nvPr/>
        </p:nvSpPr>
        <p:spPr>
          <a:xfrm>
            <a:off x="8293608" y="2468880"/>
            <a:ext cx="3063240" cy="548640"/>
          </a:xfrm>
          <a:prstGeom prst="rect">
            <a:avLst/>
          </a:prstGeom>
          <a:noFill/>
        </p:spPr>
        <p:txBody>
          <a:bodyPr wrap="square" lIns="27432" rIns="27432" tIns="27432" bIns="27432" anchor="t">
            <a:spAutoFit/>
          </a:bodyPr>
          <a:lstStyle/>
          <a:p>
            <a:pPr algn="l">
              <a:lnSpc>
                <a:spcPct val="100000"/>
              </a:lnSpc>
            </a:pPr>
            <a:r>
              <a:rPr sz="1300" b="0">
                <a:solidFill>
                  <a:srgbClr val="AFC0D1"/>
                </a:solidFill>
                <a:latin typeface="Aptos"/>
              </a:rPr>
              <a:t>Opened once</a:t>
            </a:r>
            <a:br/>
            <a:r>
              <a:rPr sz="1300" b="0">
                <a:solidFill>
                  <a:srgbClr val="AFC0D1"/>
                </a:solidFill>
                <a:latin typeface="Aptos"/>
              </a:rPr>
              <a:t>Final evaluation only</a:t>
            </a:r>
          </a:p>
        </p:txBody>
      </p:sp>
      <p:sp>
        <p:nvSpPr>
          <p:cNvPr id="19" name="Rounded Rectangle 18"/>
          <p:cNvSpPr/>
          <p:nvPr/>
        </p:nvSpPr>
        <p:spPr>
          <a:xfrm>
            <a:off x="612648" y="3675887"/>
            <a:ext cx="11045952" cy="2130552"/>
          </a:xfrm>
          <a:prstGeom prst="roundRect">
            <a:avLst/>
          </a:prstGeom>
          <a:solidFill>
            <a:srgbClr val="132F4D"/>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922776"/>
            <a:ext cx="1828800" cy="219456"/>
          </a:xfrm>
          <a:prstGeom prst="rect">
            <a:avLst/>
          </a:prstGeom>
          <a:noFill/>
        </p:spPr>
        <p:txBody>
          <a:bodyPr wrap="square" lIns="27432" rIns="27432" tIns="27432" bIns="27432" anchor="t">
            <a:spAutoFit/>
          </a:bodyPr>
          <a:lstStyle/>
          <a:p>
            <a:pPr algn="l">
              <a:lnSpc>
                <a:spcPct val="100000"/>
              </a:lnSpc>
            </a:pPr>
            <a:r>
              <a:rPr sz="1100" b="1">
                <a:solidFill>
                  <a:srgbClr val="55D7E3"/>
                </a:solidFill>
                <a:latin typeface="Aptos"/>
              </a:rPr>
              <a:t>AUDIT RESULTS</a:t>
            </a:r>
          </a:p>
        </p:txBody>
      </p:sp>
      <p:sp>
        <p:nvSpPr>
          <p:cNvPr id="21" name="Rounded Rectangle 20"/>
          <p:cNvSpPr/>
          <p:nvPr/>
        </p:nvSpPr>
        <p:spPr>
          <a:xfrm>
            <a:off x="868680" y="4361688"/>
            <a:ext cx="2423160" cy="1078992"/>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4361688"/>
            <a:ext cx="54864" cy="1078992"/>
          </a:xfrm>
          <a:prstGeom prst="rect">
            <a:avLst/>
          </a:prstGeom>
          <a:solidFill>
            <a:srgbClr val="4ED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1" y="4471416"/>
            <a:ext cx="2148840" cy="496336"/>
          </a:xfrm>
          <a:prstGeom prst="rect">
            <a:avLst/>
          </a:prstGeom>
          <a:noFill/>
        </p:spPr>
        <p:txBody>
          <a:bodyPr wrap="square" lIns="27432" rIns="27432" tIns="27432" bIns="27432" anchor="t">
            <a:spAutoFit/>
          </a:bodyPr>
          <a:lstStyle/>
          <a:p>
            <a:pPr algn="l">
              <a:lnSpc>
                <a:spcPct val="100000"/>
              </a:lnSpc>
            </a:pPr>
            <a:r>
              <a:rPr sz="2200" b="1">
                <a:solidFill>
                  <a:srgbClr val="4ED6A6"/>
                </a:solidFill>
                <a:latin typeface="Aptos"/>
              </a:rPr>
              <a:t>0</a:t>
            </a:r>
          </a:p>
        </p:txBody>
      </p:sp>
      <p:sp>
        <p:nvSpPr>
          <p:cNvPr id="24" name="TextBox 23"/>
          <p:cNvSpPr txBox="1"/>
          <p:nvPr/>
        </p:nvSpPr>
        <p:spPr>
          <a:xfrm>
            <a:off x="1033271" y="4976713"/>
            <a:ext cx="2148840" cy="302117"/>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IDENTIFIER OVERLAP</a:t>
            </a:r>
          </a:p>
        </p:txBody>
      </p:sp>
      <p:sp>
        <p:nvSpPr>
          <p:cNvPr id="25" name="Rounded Rectangle 24"/>
          <p:cNvSpPr/>
          <p:nvPr/>
        </p:nvSpPr>
        <p:spPr>
          <a:xfrm>
            <a:off x="3493008" y="4361688"/>
            <a:ext cx="2423160" cy="1078992"/>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493008" y="4361688"/>
            <a:ext cx="54864" cy="1078992"/>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0" y="4471416"/>
            <a:ext cx="2148840" cy="496336"/>
          </a:xfrm>
          <a:prstGeom prst="rect">
            <a:avLst/>
          </a:prstGeom>
          <a:noFill/>
        </p:spPr>
        <p:txBody>
          <a:bodyPr wrap="square" lIns="27432" rIns="27432" tIns="27432" bIns="27432" anchor="t">
            <a:spAutoFit/>
          </a:bodyPr>
          <a:lstStyle/>
          <a:p>
            <a:pPr algn="l">
              <a:lnSpc>
                <a:spcPct val="100000"/>
              </a:lnSpc>
            </a:pPr>
            <a:r>
              <a:rPr sz="2200" b="1">
                <a:solidFill>
                  <a:srgbClr val="55D7E3"/>
                </a:solidFill>
                <a:latin typeface="Aptos"/>
              </a:rPr>
              <a:t>0.0742</a:t>
            </a:r>
          </a:p>
        </p:txBody>
      </p:sp>
      <p:sp>
        <p:nvSpPr>
          <p:cNvPr id="28" name="TextBox 27"/>
          <p:cNvSpPr txBox="1"/>
          <p:nvPr/>
        </p:nvSpPr>
        <p:spPr>
          <a:xfrm>
            <a:off x="3657600" y="4976713"/>
            <a:ext cx="2148840" cy="302117"/>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MAXIMUM ABSOLUTE SMD</a:t>
            </a:r>
          </a:p>
        </p:txBody>
      </p:sp>
      <p:sp>
        <p:nvSpPr>
          <p:cNvPr id="29" name="Rounded Rectangle 28"/>
          <p:cNvSpPr/>
          <p:nvPr/>
        </p:nvSpPr>
        <p:spPr>
          <a:xfrm>
            <a:off x="6117336" y="4361688"/>
            <a:ext cx="2423160" cy="1078992"/>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17336" y="4361688"/>
            <a:ext cx="54864" cy="107899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81928" y="4471416"/>
            <a:ext cx="2148840" cy="496336"/>
          </a:xfrm>
          <a:prstGeom prst="rect">
            <a:avLst/>
          </a:prstGeom>
          <a:noFill/>
        </p:spPr>
        <p:txBody>
          <a:bodyPr wrap="square" lIns="27432" rIns="27432" tIns="27432" bIns="27432" anchor="t">
            <a:spAutoFit/>
          </a:bodyPr>
          <a:lstStyle/>
          <a:p>
            <a:pPr algn="l">
              <a:lnSpc>
                <a:spcPct val="100000"/>
              </a:lnSpc>
            </a:pPr>
            <a:r>
              <a:rPr sz="2200" b="1">
                <a:solidFill>
                  <a:srgbClr val="947CFF"/>
                </a:solidFill>
                <a:latin typeface="Aptos"/>
              </a:rPr>
              <a:t>10</a:t>
            </a:r>
          </a:p>
        </p:txBody>
      </p:sp>
      <p:sp>
        <p:nvSpPr>
          <p:cNvPr id="32" name="TextBox 31"/>
          <p:cNvSpPr txBox="1"/>
          <p:nvPr/>
        </p:nvSpPr>
        <p:spPr>
          <a:xfrm>
            <a:off x="6281928" y="4976713"/>
            <a:ext cx="2148840" cy="302117"/>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TEST ROWS MATCHING A DEV PROFILE</a:t>
            </a:r>
          </a:p>
        </p:txBody>
      </p:sp>
      <p:sp>
        <p:nvSpPr>
          <p:cNvPr id="33" name="Rounded Rectangle 32"/>
          <p:cNvSpPr/>
          <p:nvPr/>
        </p:nvSpPr>
        <p:spPr>
          <a:xfrm>
            <a:off x="8741664" y="4361688"/>
            <a:ext cx="2423160" cy="1078992"/>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741664" y="4361688"/>
            <a:ext cx="54864" cy="1078992"/>
          </a:xfrm>
          <a:prstGeom prst="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06256" y="4471416"/>
            <a:ext cx="2148840" cy="496336"/>
          </a:xfrm>
          <a:prstGeom prst="rect">
            <a:avLst/>
          </a:prstGeom>
          <a:noFill/>
        </p:spPr>
        <p:txBody>
          <a:bodyPr wrap="square" lIns="27432" rIns="27432" tIns="27432" bIns="27432" anchor="t">
            <a:spAutoFit/>
          </a:bodyPr>
          <a:lstStyle/>
          <a:p>
            <a:pPr algn="l">
              <a:lnSpc>
                <a:spcPct val="100000"/>
              </a:lnSpc>
            </a:pPr>
            <a:r>
              <a:rPr sz="2200" b="1">
                <a:solidFill>
                  <a:srgbClr val="FF9C5B"/>
                </a:solidFill>
                <a:latin typeface="Aptos"/>
              </a:rPr>
              <a:t>21</a:t>
            </a:r>
          </a:p>
        </p:txBody>
      </p:sp>
      <p:sp>
        <p:nvSpPr>
          <p:cNvPr id="36" name="TextBox 35"/>
          <p:cNvSpPr txBox="1"/>
          <p:nvPr/>
        </p:nvSpPr>
        <p:spPr>
          <a:xfrm>
            <a:off x="8906256" y="4976713"/>
            <a:ext cx="2148840" cy="302117"/>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PROFILES WITH CONFLICTING LABELS</a:t>
            </a:r>
          </a:p>
        </p:txBody>
      </p:sp>
      <p:sp>
        <p:nvSpPr>
          <p:cNvPr id="37" name="TextBox 36"/>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github.com/Awais-Asghar/customer-intelligence-ml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DIMENSIONALITY REDUCTION</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PCA retains signal without inventing certainty</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05</a:t>
            </a:r>
          </a:p>
        </p:txBody>
      </p:sp>
      <p:sp>
        <p:nvSpPr>
          <p:cNvPr id="7" name="Rounded Rectangle 6"/>
          <p:cNvSpPr/>
          <p:nvPr/>
        </p:nvSpPr>
        <p:spPr>
          <a:xfrm>
            <a:off x="530352" y="1179576"/>
            <a:ext cx="4882896" cy="3090672"/>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ca-preprocessing-comparison.png"/>
          <p:cNvPicPr>
            <a:picLocks noChangeAspect="1"/>
          </p:cNvPicPr>
          <p:nvPr/>
        </p:nvPicPr>
        <p:blipFill>
          <a:blip r:embed="rId2"/>
          <a:stretch>
            <a:fillRect/>
          </a:stretch>
        </p:blipFill>
        <p:spPr>
          <a:xfrm>
            <a:off x="585216" y="1418230"/>
            <a:ext cx="4773168" cy="2613363"/>
          </a:xfrm>
          <a:prstGeom prst="rect">
            <a:avLst/>
          </a:prstGeom>
        </p:spPr>
      </p:pic>
      <p:sp>
        <p:nvSpPr>
          <p:cNvPr id="9" name="Rounded Rectangle 8"/>
          <p:cNvSpPr/>
          <p:nvPr/>
        </p:nvSpPr>
        <p:spPr>
          <a:xfrm>
            <a:off x="5577840" y="1179576"/>
            <a:ext cx="6080760" cy="3090672"/>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ca-diagnostic-projection.png"/>
          <p:cNvPicPr>
            <a:picLocks noChangeAspect="1"/>
          </p:cNvPicPr>
          <p:nvPr/>
        </p:nvPicPr>
        <p:blipFill>
          <a:blip r:embed="rId3"/>
          <a:stretch>
            <a:fillRect/>
          </a:stretch>
        </p:blipFill>
        <p:spPr>
          <a:xfrm>
            <a:off x="6474032" y="1234440"/>
            <a:ext cx="4288375" cy="2980944"/>
          </a:xfrm>
          <a:prstGeom prst="rect">
            <a:avLst/>
          </a:prstGeom>
        </p:spPr>
      </p:pic>
      <p:sp>
        <p:nvSpPr>
          <p:cNvPr id="11" name="Rounded Rectangle 10"/>
          <p:cNvSpPr/>
          <p:nvPr/>
        </p:nvSpPr>
        <p:spPr>
          <a:xfrm>
            <a:off x="530352" y="4517136"/>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0352" y="4517136"/>
            <a:ext cx="54864" cy="82296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4626864"/>
            <a:ext cx="2425446" cy="378561"/>
          </a:xfrm>
          <a:prstGeom prst="rect">
            <a:avLst/>
          </a:prstGeom>
          <a:noFill/>
        </p:spPr>
        <p:txBody>
          <a:bodyPr wrap="square" lIns="27432" rIns="27432" tIns="27432" bIns="27432" anchor="t">
            <a:spAutoFit/>
          </a:bodyPr>
          <a:lstStyle/>
          <a:p>
            <a:pPr algn="l">
              <a:lnSpc>
                <a:spcPct val="100000"/>
              </a:lnSpc>
            </a:pPr>
            <a:r>
              <a:rPr sz="1800" b="1">
                <a:solidFill>
                  <a:srgbClr val="55D7E3"/>
                </a:solidFill>
                <a:latin typeface="Aptos"/>
              </a:rPr>
              <a:t>19</a:t>
            </a:r>
          </a:p>
        </p:txBody>
      </p:sp>
      <p:sp>
        <p:nvSpPr>
          <p:cNvPr id="14" name="TextBox 13"/>
          <p:cNvSpPr txBox="1"/>
          <p:nvPr/>
        </p:nvSpPr>
        <p:spPr>
          <a:xfrm>
            <a:off x="694944" y="4986223"/>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BEHAVIORAL INPUTS</a:t>
            </a:r>
          </a:p>
        </p:txBody>
      </p:sp>
      <p:sp>
        <p:nvSpPr>
          <p:cNvPr id="15" name="Rounded Rectangle 14"/>
          <p:cNvSpPr/>
          <p:nvPr/>
        </p:nvSpPr>
        <p:spPr>
          <a:xfrm>
            <a:off x="3339846" y="4517136"/>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39846" y="4517136"/>
            <a:ext cx="54864" cy="822960"/>
          </a:xfrm>
          <a:prstGeom prst="rect">
            <a:avLst/>
          </a:prstGeom>
          <a:solidFill>
            <a:srgbClr val="4E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04438" y="4626864"/>
            <a:ext cx="2425446" cy="378561"/>
          </a:xfrm>
          <a:prstGeom prst="rect">
            <a:avLst/>
          </a:prstGeom>
          <a:noFill/>
        </p:spPr>
        <p:txBody>
          <a:bodyPr wrap="square" lIns="27432" rIns="27432" tIns="27432" bIns="27432" anchor="t">
            <a:spAutoFit/>
          </a:bodyPr>
          <a:lstStyle/>
          <a:p>
            <a:pPr algn="l">
              <a:lnSpc>
                <a:spcPct val="100000"/>
              </a:lnSpc>
            </a:pPr>
            <a:r>
              <a:rPr sz="1800" b="1">
                <a:solidFill>
                  <a:srgbClr val="4E8DFF"/>
                </a:solidFill>
                <a:latin typeface="Aptos"/>
              </a:rPr>
              <a:t>13</a:t>
            </a:r>
          </a:p>
        </p:txBody>
      </p:sp>
      <p:sp>
        <p:nvSpPr>
          <p:cNvPr id="18" name="TextBox 17"/>
          <p:cNvSpPr txBox="1"/>
          <p:nvPr/>
        </p:nvSpPr>
        <p:spPr>
          <a:xfrm>
            <a:off x="3504438" y="4986223"/>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COMPONENTS RETAINED</a:t>
            </a:r>
          </a:p>
        </p:txBody>
      </p:sp>
      <p:sp>
        <p:nvSpPr>
          <p:cNvPr id="19" name="Rounded Rectangle 18"/>
          <p:cNvSpPr/>
          <p:nvPr/>
        </p:nvSpPr>
        <p:spPr>
          <a:xfrm>
            <a:off x="6149340" y="4517136"/>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9340" y="4517136"/>
            <a:ext cx="54864" cy="822960"/>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13932" y="4626864"/>
            <a:ext cx="2425446" cy="378561"/>
          </a:xfrm>
          <a:prstGeom prst="rect">
            <a:avLst/>
          </a:prstGeom>
          <a:noFill/>
        </p:spPr>
        <p:txBody>
          <a:bodyPr wrap="square" lIns="27432" rIns="27432" tIns="27432" bIns="27432" anchor="t">
            <a:spAutoFit/>
          </a:bodyPr>
          <a:lstStyle/>
          <a:p>
            <a:pPr algn="l">
              <a:lnSpc>
                <a:spcPct val="100000"/>
              </a:lnSpc>
            </a:pPr>
            <a:r>
              <a:rPr sz="1800" b="1">
                <a:solidFill>
                  <a:srgbClr val="947CFF"/>
                </a:solidFill>
                <a:latin typeface="Aptos"/>
              </a:rPr>
              <a:t>95.63%</a:t>
            </a:r>
          </a:p>
        </p:txBody>
      </p:sp>
      <p:sp>
        <p:nvSpPr>
          <p:cNvPr id="22" name="TextBox 21"/>
          <p:cNvSpPr txBox="1"/>
          <p:nvPr/>
        </p:nvSpPr>
        <p:spPr>
          <a:xfrm>
            <a:off x="6313932" y="4986223"/>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CUMULATIVE VARIANCE</a:t>
            </a:r>
          </a:p>
        </p:txBody>
      </p:sp>
      <p:sp>
        <p:nvSpPr>
          <p:cNvPr id="23" name="Rounded Rectangle 22"/>
          <p:cNvSpPr/>
          <p:nvPr/>
        </p:nvSpPr>
        <p:spPr>
          <a:xfrm>
            <a:off x="8958834" y="4517136"/>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58834" y="4517136"/>
            <a:ext cx="54864" cy="822960"/>
          </a:xfrm>
          <a:prstGeom prst="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23426" y="4626864"/>
            <a:ext cx="2425446" cy="378561"/>
          </a:xfrm>
          <a:prstGeom prst="rect">
            <a:avLst/>
          </a:prstGeom>
          <a:noFill/>
        </p:spPr>
        <p:txBody>
          <a:bodyPr wrap="square" lIns="27432" rIns="27432" tIns="27432" bIns="27432" anchor="t">
            <a:spAutoFit/>
          </a:bodyPr>
          <a:lstStyle/>
          <a:p>
            <a:pPr algn="l">
              <a:lnSpc>
                <a:spcPct val="100000"/>
              </a:lnSpc>
            </a:pPr>
            <a:r>
              <a:rPr sz="1800" b="1">
                <a:solidFill>
                  <a:srgbClr val="FF9C5B"/>
                </a:solidFill>
                <a:latin typeface="Aptos"/>
              </a:rPr>
              <a:t>59.29%</a:t>
            </a:r>
          </a:p>
        </p:txBody>
      </p:sp>
      <p:sp>
        <p:nvSpPr>
          <p:cNvPr id="26" name="TextBox 25"/>
          <p:cNvSpPr txBox="1"/>
          <p:nvPr/>
        </p:nvSpPr>
        <p:spPr>
          <a:xfrm>
            <a:off x="9123426" y="4986223"/>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FIRST TWO COMPONENTS</a:t>
            </a:r>
          </a:p>
        </p:txBody>
      </p:sp>
      <p:sp>
        <p:nvSpPr>
          <p:cNvPr id="27" name="Rounded Rectangle 26"/>
          <p:cNvSpPr/>
          <p:nvPr/>
        </p:nvSpPr>
        <p:spPr>
          <a:xfrm>
            <a:off x="530352" y="5513832"/>
            <a:ext cx="11128248" cy="658368"/>
          </a:xfrm>
          <a:prstGeom prst="roundRect">
            <a:avLst/>
          </a:prstGeom>
          <a:solidFill>
            <a:srgbClr val="132F4D"/>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669280"/>
            <a:ext cx="10643616" cy="274320"/>
          </a:xfrm>
          <a:prstGeom prst="rect">
            <a:avLst/>
          </a:prstGeom>
          <a:noFill/>
        </p:spPr>
        <p:txBody>
          <a:bodyPr wrap="square" lIns="27432" rIns="27432" tIns="27432" bIns="27432" anchor="t">
            <a:spAutoFit/>
          </a:bodyPr>
          <a:lstStyle/>
          <a:p>
            <a:pPr algn="ctr">
              <a:lnSpc>
                <a:spcPct val="100000"/>
              </a:lnSpc>
            </a:pPr>
            <a:r>
              <a:rPr sz="1400" b="1">
                <a:solidFill>
                  <a:srgbClr val="F7FAFF"/>
                </a:solidFill>
                <a:latin typeface="Aptos"/>
              </a:rPr>
              <a:t>The 13-component representation supports PCA and clustering analysis. The supervised model uses 54 engineered behavioral features.</a:t>
            </a:r>
          </a:p>
        </p:txBody>
      </p:sp>
      <p:sp>
        <p:nvSpPr>
          <p:cNvPr id="29" name="TextBox 28"/>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github.com/Awais-Asghar/customer-intelligence-ml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K-MEANS SEGMENTATION</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Two stable groups, with meaningful overlap</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06</a:t>
            </a:r>
          </a:p>
        </p:txBody>
      </p:sp>
      <p:sp>
        <p:nvSpPr>
          <p:cNvPr id="7" name="Rounded Rectangle 6"/>
          <p:cNvSpPr/>
          <p:nvPr/>
        </p:nvSpPr>
        <p:spPr>
          <a:xfrm>
            <a:off x="530352" y="1170432"/>
            <a:ext cx="5559552" cy="4242816"/>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kmeans-model-selection.png"/>
          <p:cNvPicPr>
            <a:picLocks noChangeAspect="1"/>
          </p:cNvPicPr>
          <p:nvPr/>
        </p:nvPicPr>
        <p:blipFill>
          <a:blip r:embed="rId2"/>
          <a:stretch>
            <a:fillRect/>
          </a:stretch>
        </p:blipFill>
        <p:spPr>
          <a:xfrm>
            <a:off x="585216" y="1301405"/>
            <a:ext cx="5449824" cy="3980868"/>
          </a:xfrm>
          <a:prstGeom prst="rect">
            <a:avLst/>
          </a:prstGeom>
        </p:spPr>
      </p:pic>
      <p:sp>
        <p:nvSpPr>
          <p:cNvPr id="9" name="Rounded Rectangle 8"/>
          <p:cNvSpPr/>
          <p:nvPr/>
        </p:nvSpPr>
        <p:spPr>
          <a:xfrm>
            <a:off x="6254496" y="1170432"/>
            <a:ext cx="5404104" cy="4242816"/>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kmeans-cluster-projection.png"/>
          <p:cNvPicPr>
            <a:picLocks noChangeAspect="1"/>
          </p:cNvPicPr>
          <p:nvPr/>
        </p:nvPicPr>
        <p:blipFill>
          <a:blip r:embed="rId3"/>
          <a:stretch>
            <a:fillRect/>
          </a:stretch>
        </p:blipFill>
        <p:spPr>
          <a:xfrm>
            <a:off x="6309360" y="1371955"/>
            <a:ext cx="5294376" cy="3839769"/>
          </a:xfrm>
          <a:prstGeom prst="rect">
            <a:avLst/>
          </a:prstGeom>
        </p:spPr>
      </p:pic>
      <p:sp>
        <p:nvSpPr>
          <p:cNvPr id="11" name="Rounded Rectangle 10"/>
          <p:cNvSpPr/>
          <p:nvPr/>
        </p:nvSpPr>
        <p:spPr>
          <a:xfrm>
            <a:off x="530352" y="5550408"/>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30352" y="5550408"/>
            <a:ext cx="54864" cy="82296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5660136"/>
            <a:ext cx="2425446" cy="378561"/>
          </a:xfrm>
          <a:prstGeom prst="rect">
            <a:avLst/>
          </a:prstGeom>
          <a:noFill/>
        </p:spPr>
        <p:txBody>
          <a:bodyPr wrap="square" lIns="27432" rIns="27432" tIns="27432" bIns="27432" anchor="t">
            <a:spAutoFit/>
          </a:bodyPr>
          <a:lstStyle/>
          <a:p>
            <a:pPr algn="l">
              <a:lnSpc>
                <a:spcPct val="100000"/>
              </a:lnSpc>
            </a:pPr>
            <a:r>
              <a:rPr sz="1800" b="1">
                <a:solidFill>
                  <a:srgbClr val="55D7E3"/>
                </a:solidFill>
                <a:latin typeface="Aptos"/>
              </a:rPr>
              <a:t>2</a:t>
            </a:r>
          </a:p>
        </p:txBody>
      </p:sp>
      <p:sp>
        <p:nvSpPr>
          <p:cNvPr id="14" name="TextBox 13"/>
          <p:cNvSpPr txBox="1"/>
          <p:nvPr/>
        </p:nvSpPr>
        <p:spPr>
          <a:xfrm>
            <a:off x="694944" y="6019495"/>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SELECTED CLUSTERS</a:t>
            </a:r>
          </a:p>
        </p:txBody>
      </p:sp>
      <p:sp>
        <p:nvSpPr>
          <p:cNvPr id="15" name="Rounded Rectangle 14"/>
          <p:cNvSpPr/>
          <p:nvPr/>
        </p:nvSpPr>
        <p:spPr>
          <a:xfrm>
            <a:off x="3339846" y="5550408"/>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39846" y="5550408"/>
            <a:ext cx="54864" cy="822960"/>
          </a:xfrm>
          <a:prstGeom prst="rect">
            <a:avLst/>
          </a:prstGeom>
          <a:solidFill>
            <a:srgbClr val="4E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04438" y="5660136"/>
            <a:ext cx="2425446" cy="378561"/>
          </a:xfrm>
          <a:prstGeom prst="rect">
            <a:avLst/>
          </a:prstGeom>
          <a:noFill/>
        </p:spPr>
        <p:txBody>
          <a:bodyPr wrap="square" lIns="27432" rIns="27432" tIns="27432" bIns="27432" anchor="t">
            <a:spAutoFit/>
          </a:bodyPr>
          <a:lstStyle/>
          <a:p>
            <a:pPr algn="l">
              <a:lnSpc>
                <a:spcPct val="100000"/>
              </a:lnSpc>
            </a:pPr>
            <a:r>
              <a:rPr sz="1800" b="1">
                <a:solidFill>
                  <a:srgbClr val="4E8DFF"/>
                </a:solidFill>
                <a:latin typeface="Aptos"/>
              </a:rPr>
              <a:t>0.2638</a:t>
            </a:r>
          </a:p>
        </p:txBody>
      </p:sp>
      <p:sp>
        <p:nvSpPr>
          <p:cNvPr id="18" name="TextBox 17"/>
          <p:cNvSpPr txBox="1"/>
          <p:nvPr/>
        </p:nvSpPr>
        <p:spPr>
          <a:xfrm>
            <a:off x="3504438" y="6019495"/>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SILHOUETTE SCORE</a:t>
            </a:r>
          </a:p>
        </p:txBody>
      </p:sp>
      <p:sp>
        <p:nvSpPr>
          <p:cNvPr id="19" name="Rounded Rectangle 18"/>
          <p:cNvSpPr/>
          <p:nvPr/>
        </p:nvSpPr>
        <p:spPr>
          <a:xfrm>
            <a:off x="6149340" y="5550408"/>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49340" y="5550408"/>
            <a:ext cx="54864" cy="822960"/>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13932" y="5660136"/>
            <a:ext cx="2425446" cy="378561"/>
          </a:xfrm>
          <a:prstGeom prst="rect">
            <a:avLst/>
          </a:prstGeom>
          <a:noFill/>
        </p:spPr>
        <p:txBody>
          <a:bodyPr wrap="square" lIns="27432" rIns="27432" tIns="27432" bIns="27432" anchor="t">
            <a:spAutoFit/>
          </a:bodyPr>
          <a:lstStyle/>
          <a:p>
            <a:pPr algn="l">
              <a:lnSpc>
                <a:spcPct val="100000"/>
              </a:lnSpc>
            </a:pPr>
            <a:r>
              <a:rPr sz="1800" b="1">
                <a:solidFill>
                  <a:srgbClr val="947CFF"/>
                </a:solidFill>
                <a:latin typeface="Aptos"/>
              </a:rPr>
              <a:t>0.9960</a:t>
            </a:r>
          </a:p>
        </p:txBody>
      </p:sp>
      <p:sp>
        <p:nvSpPr>
          <p:cNvPr id="22" name="TextBox 21"/>
          <p:cNvSpPr txBox="1"/>
          <p:nvPr/>
        </p:nvSpPr>
        <p:spPr>
          <a:xfrm>
            <a:off x="6313932" y="6019495"/>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STABILITY ARI</a:t>
            </a:r>
          </a:p>
        </p:txBody>
      </p:sp>
      <p:sp>
        <p:nvSpPr>
          <p:cNvPr id="23" name="Rounded Rectangle 22"/>
          <p:cNvSpPr/>
          <p:nvPr/>
        </p:nvSpPr>
        <p:spPr>
          <a:xfrm>
            <a:off x="8958834" y="5550408"/>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58834" y="5550408"/>
            <a:ext cx="54864" cy="822960"/>
          </a:xfrm>
          <a:prstGeom prst="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23426" y="5660136"/>
            <a:ext cx="2425446" cy="378561"/>
          </a:xfrm>
          <a:prstGeom prst="rect">
            <a:avLst/>
          </a:prstGeom>
          <a:noFill/>
        </p:spPr>
        <p:txBody>
          <a:bodyPr wrap="square" lIns="27432" rIns="27432" tIns="27432" bIns="27432" anchor="t">
            <a:spAutoFit/>
          </a:bodyPr>
          <a:lstStyle/>
          <a:p>
            <a:pPr algn="l">
              <a:lnSpc>
                <a:spcPct val="100000"/>
              </a:lnSpc>
            </a:pPr>
            <a:r>
              <a:rPr sz="1800" b="1">
                <a:solidFill>
                  <a:srgbClr val="FF9C5B"/>
                </a:solidFill>
                <a:latin typeface="Aptos"/>
              </a:rPr>
              <a:t>24.66%</a:t>
            </a:r>
          </a:p>
        </p:txBody>
      </p:sp>
      <p:sp>
        <p:nvSpPr>
          <p:cNvPr id="26" name="TextBox 25"/>
          <p:cNvSpPr txBox="1"/>
          <p:nvPr/>
        </p:nvSpPr>
        <p:spPr>
          <a:xfrm>
            <a:off x="9123426" y="6019495"/>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SMALLEST CLUSTER</a:t>
            </a:r>
          </a:p>
        </p:txBody>
      </p:sp>
      <p:sp>
        <p:nvSpPr>
          <p:cNvPr id="27" name="TextBox 26"/>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github.com/Awais-Asghar/customer-intelligence-ml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ANOMALY EXPLORATION</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DBSCAN reveals sparse records, not new segments</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07</a:t>
            </a:r>
          </a:p>
        </p:txBody>
      </p:sp>
      <p:sp>
        <p:nvSpPr>
          <p:cNvPr id="7" name="Rounded Rectangle 6"/>
          <p:cNvSpPr/>
          <p:nvPr/>
        </p:nvSpPr>
        <p:spPr>
          <a:xfrm>
            <a:off x="530352" y="1188720"/>
            <a:ext cx="4736592" cy="2423160"/>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bscan-distance-curve.png"/>
          <p:cNvPicPr>
            <a:picLocks noChangeAspect="1"/>
          </p:cNvPicPr>
          <p:nvPr/>
        </p:nvPicPr>
        <p:blipFill>
          <a:blip r:embed="rId2"/>
          <a:stretch>
            <a:fillRect/>
          </a:stretch>
        </p:blipFill>
        <p:spPr>
          <a:xfrm>
            <a:off x="585216" y="1262392"/>
            <a:ext cx="4626864" cy="2275815"/>
          </a:xfrm>
          <a:prstGeom prst="rect">
            <a:avLst/>
          </a:prstGeom>
        </p:spPr>
      </p:pic>
      <p:sp>
        <p:nvSpPr>
          <p:cNvPr id="9" name="Rounded Rectangle 8"/>
          <p:cNvSpPr/>
          <p:nvPr/>
        </p:nvSpPr>
        <p:spPr>
          <a:xfrm>
            <a:off x="530352" y="3813048"/>
            <a:ext cx="4736592" cy="2039112"/>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4050791"/>
            <a:ext cx="2743200" cy="219456"/>
          </a:xfrm>
          <a:prstGeom prst="rect">
            <a:avLst/>
          </a:prstGeom>
          <a:noFill/>
        </p:spPr>
        <p:txBody>
          <a:bodyPr wrap="square" lIns="27432" rIns="27432" tIns="27432" bIns="27432" anchor="t">
            <a:spAutoFit/>
          </a:bodyPr>
          <a:lstStyle/>
          <a:p>
            <a:pPr algn="l">
              <a:lnSpc>
                <a:spcPct val="100000"/>
              </a:lnSpc>
            </a:pPr>
            <a:r>
              <a:rPr sz="1000" b="1">
                <a:solidFill>
                  <a:srgbClr val="947CFF"/>
                </a:solidFill>
                <a:latin typeface="Aptos"/>
              </a:rPr>
              <a:t>SELECTED CONFIGURATION</a:t>
            </a:r>
          </a:p>
        </p:txBody>
      </p:sp>
      <p:sp>
        <p:nvSpPr>
          <p:cNvPr id="11" name="TextBox 10"/>
          <p:cNvSpPr txBox="1"/>
          <p:nvPr/>
        </p:nvSpPr>
        <p:spPr>
          <a:xfrm>
            <a:off x="768096" y="4407408"/>
            <a:ext cx="4160520" cy="1225296"/>
          </a:xfrm>
          <a:prstGeom prst="rect">
            <a:avLst/>
          </a:prstGeom>
          <a:noFill/>
        </p:spPr>
        <p:txBody>
          <a:bodyPr wrap="square" lIns="36576" rIns="36576" tIns="18288" bIns="18288">
            <a:spAutoFit/>
          </a:bodyPr>
          <a:lstStyle/>
          <a:p>
            <a:pPr>
              <a:lnSpc>
                <a:spcPct val="105000"/>
              </a:lnSpc>
              <a:spcAft>
                <a:spcPts val="300"/>
              </a:spcAft>
            </a:pPr>
            <a:r>
              <a:rPr sz="1400">
                <a:solidFill>
                  <a:srgbClr val="947CFF"/>
                </a:solidFill>
                <a:latin typeface="Aptos"/>
              </a:rPr>
              <a:t>•  5 whitened PCA components</a:t>
            </a:r>
          </a:p>
          <a:p>
            <a:pPr>
              <a:lnSpc>
                <a:spcPct val="105000"/>
              </a:lnSpc>
              <a:spcAft>
                <a:spcPts val="300"/>
              </a:spcAft>
            </a:pPr>
            <a:r>
              <a:rPr sz="1400">
                <a:solidFill>
                  <a:srgbClr val="947CFF"/>
                </a:solidFill>
                <a:latin typeface="Aptos"/>
              </a:rPr>
              <a:t>•  eps 1.1526 and min_samples 10</a:t>
            </a:r>
          </a:p>
          <a:p>
            <a:pPr>
              <a:lnSpc>
                <a:spcPct val="105000"/>
              </a:lnSpc>
              <a:spcAft>
                <a:spcPts val="300"/>
              </a:spcAft>
            </a:pPr>
            <a:r>
              <a:rPr sz="1400">
                <a:solidFill>
                  <a:srgbClr val="947CFF"/>
                </a:solidFill>
                <a:latin typeface="Aptos"/>
              </a:rPr>
              <a:t>•  One substantial core group</a:t>
            </a:r>
          </a:p>
          <a:p>
            <a:pPr>
              <a:lnSpc>
                <a:spcPct val="105000"/>
              </a:lnSpc>
              <a:spcAft>
                <a:spcPts val="300"/>
              </a:spcAft>
            </a:pPr>
            <a:r>
              <a:rPr sz="1400">
                <a:solidFill>
                  <a:srgbClr val="947CFF"/>
                </a:solidFill>
                <a:latin typeface="Aptos"/>
              </a:rPr>
              <a:t>•  2.08% density-noise records</a:t>
            </a:r>
          </a:p>
        </p:txBody>
      </p:sp>
      <p:sp>
        <p:nvSpPr>
          <p:cNvPr id="12" name="Rounded Rectangle 11"/>
          <p:cNvSpPr/>
          <p:nvPr/>
        </p:nvSpPr>
        <p:spPr>
          <a:xfrm>
            <a:off x="5449824" y="1188720"/>
            <a:ext cx="6208776" cy="4663440"/>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bscan-anomaly-projection.png"/>
          <p:cNvPicPr>
            <a:picLocks noChangeAspect="1"/>
          </p:cNvPicPr>
          <p:nvPr/>
        </p:nvPicPr>
        <p:blipFill>
          <a:blip r:embed="rId3"/>
          <a:stretch>
            <a:fillRect/>
          </a:stretch>
        </p:blipFill>
        <p:spPr>
          <a:xfrm>
            <a:off x="5504688" y="1314880"/>
            <a:ext cx="6099048" cy="4411119"/>
          </a:xfrm>
          <a:prstGeom prst="rect">
            <a:avLst/>
          </a:prstGeom>
        </p:spPr>
      </p:pic>
      <p:sp>
        <p:nvSpPr>
          <p:cNvPr id="14" name="Rounded Rectangle 13"/>
          <p:cNvSpPr/>
          <p:nvPr/>
        </p:nvSpPr>
        <p:spPr>
          <a:xfrm>
            <a:off x="530352" y="5998464"/>
            <a:ext cx="11128248" cy="320040"/>
          </a:xfrm>
          <a:prstGeom prst="round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6062472"/>
            <a:ext cx="10762488" cy="164592"/>
          </a:xfrm>
          <a:prstGeom prst="rect">
            <a:avLst/>
          </a:prstGeom>
          <a:noFill/>
        </p:spPr>
        <p:txBody>
          <a:bodyPr wrap="square" lIns="27432" rIns="27432" tIns="27432" bIns="27432" anchor="t">
            <a:spAutoFit/>
          </a:bodyPr>
          <a:lstStyle/>
          <a:p>
            <a:pPr algn="ctr">
              <a:lnSpc>
                <a:spcPct val="100000"/>
              </a:lnSpc>
            </a:pPr>
            <a:r>
              <a:rPr sz="1150" b="1">
                <a:solidFill>
                  <a:srgbClr val="071628"/>
                </a:solidFill>
                <a:latin typeface="Aptos"/>
              </a:rPr>
              <a:t>Interpretation: unusual multivariate behavior, not fraud, wrongdoing, or a guaranteed future outcome.</a:t>
            </a:r>
          </a:p>
        </p:txBody>
      </p:sp>
      <p:sp>
        <p:nvSpPr>
          <p:cNvPr id="16" name="TextBox 15"/>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github.com/Awais-Asghar/customer-intelligence-ml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GRADIENT BOOSTING</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A supervised pipeline designed for honest comparison</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08</a:t>
            </a:r>
          </a:p>
        </p:txBody>
      </p:sp>
      <p:sp>
        <p:nvSpPr>
          <p:cNvPr id="7" name="Rounded Rectangle 6"/>
          <p:cNvSpPr/>
          <p:nvPr/>
        </p:nvSpPr>
        <p:spPr>
          <a:xfrm>
            <a:off x="530352" y="1371600"/>
            <a:ext cx="2487168" cy="2029968"/>
          </a:xfrm>
          <a:prstGeom prst="roundRect">
            <a:avLst/>
          </a:prstGeom>
          <a:solidFill>
            <a:srgbClr val="102842"/>
          </a:solidFill>
          <a:ln w="17780">
            <a:solidFill>
              <a:srgbClr val="55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19" y="1572768"/>
            <a:ext cx="475488" cy="274320"/>
          </a:xfrm>
          <a:prstGeom prst="rect">
            <a:avLst/>
          </a:prstGeom>
          <a:noFill/>
        </p:spPr>
        <p:txBody>
          <a:bodyPr wrap="square" lIns="27432" rIns="27432" tIns="27432" bIns="27432" anchor="t">
            <a:spAutoFit/>
          </a:bodyPr>
          <a:lstStyle/>
          <a:p>
            <a:pPr algn="l">
              <a:lnSpc>
                <a:spcPct val="100000"/>
              </a:lnSpc>
            </a:pPr>
            <a:r>
              <a:rPr sz="1500" b="1">
                <a:solidFill>
                  <a:srgbClr val="55D7E3"/>
                </a:solidFill>
                <a:latin typeface="Aptos"/>
              </a:rPr>
              <a:t>01</a:t>
            </a:r>
          </a:p>
        </p:txBody>
      </p:sp>
      <p:sp>
        <p:nvSpPr>
          <p:cNvPr id="9" name="TextBox 8"/>
          <p:cNvSpPr txBox="1"/>
          <p:nvPr/>
        </p:nvSpPr>
        <p:spPr>
          <a:xfrm>
            <a:off x="731519" y="2011680"/>
            <a:ext cx="2048256" cy="310896"/>
          </a:xfrm>
          <a:prstGeom prst="rect">
            <a:avLst/>
          </a:prstGeom>
          <a:noFill/>
        </p:spPr>
        <p:txBody>
          <a:bodyPr wrap="square" lIns="27432" rIns="27432" tIns="27432" bIns="27432" anchor="t">
            <a:spAutoFit/>
          </a:bodyPr>
          <a:lstStyle/>
          <a:p>
            <a:pPr algn="l">
              <a:lnSpc>
                <a:spcPct val="100000"/>
              </a:lnSpc>
            </a:pPr>
            <a:r>
              <a:rPr sz="1700" b="1">
                <a:solidFill>
                  <a:srgbClr val="F7FAFF"/>
                </a:solidFill>
                <a:latin typeface="Aptos"/>
              </a:rPr>
              <a:t>Behavioral inputs</a:t>
            </a:r>
          </a:p>
        </p:txBody>
      </p:sp>
      <p:sp>
        <p:nvSpPr>
          <p:cNvPr id="10" name="TextBox 9"/>
          <p:cNvSpPr txBox="1"/>
          <p:nvPr/>
        </p:nvSpPr>
        <p:spPr>
          <a:xfrm>
            <a:off x="731519" y="2542032"/>
            <a:ext cx="2048256" cy="493776"/>
          </a:xfrm>
          <a:prstGeom prst="rect">
            <a:avLst/>
          </a:prstGeom>
          <a:noFill/>
        </p:spPr>
        <p:txBody>
          <a:bodyPr wrap="square" lIns="27432" rIns="27432" tIns="27432" bIns="27432" anchor="t">
            <a:spAutoFit/>
          </a:bodyPr>
          <a:lstStyle/>
          <a:p>
            <a:pPr algn="l">
              <a:lnSpc>
                <a:spcPct val="100000"/>
              </a:lnSpc>
            </a:pPr>
            <a:r>
              <a:rPr sz="1350" b="0">
                <a:solidFill>
                  <a:srgbClr val="AFC0D1"/>
                </a:solidFill>
                <a:latin typeface="Aptos"/>
              </a:rPr>
              <a:t>19 non-demographic variables</a:t>
            </a:r>
          </a:p>
        </p:txBody>
      </p:sp>
      <p:sp>
        <p:nvSpPr>
          <p:cNvPr id="11" name="Chevron 10"/>
          <p:cNvSpPr/>
          <p:nvPr/>
        </p:nvSpPr>
        <p:spPr>
          <a:xfrm>
            <a:off x="3099816" y="2093976"/>
            <a:ext cx="301752" cy="475488"/>
          </a:xfrm>
          <a:prstGeom prst="chevron">
            <a:avLst/>
          </a:prstGeom>
          <a:solidFill>
            <a:srgbClr val="22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46704" y="1371600"/>
            <a:ext cx="2487168" cy="2029968"/>
          </a:xfrm>
          <a:prstGeom prst="roundRect">
            <a:avLst/>
          </a:prstGeom>
          <a:solidFill>
            <a:srgbClr val="102842"/>
          </a:solidFill>
          <a:ln w="17780">
            <a:solidFill>
              <a:srgbClr val="4E8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1572768"/>
            <a:ext cx="475488" cy="274320"/>
          </a:xfrm>
          <a:prstGeom prst="rect">
            <a:avLst/>
          </a:prstGeom>
          <a:noFill/>
        </p:spPr>
        <p:txBody>
          <a:bodyPr wrap="square" lIns="27432" rIns="27432" tIns="27432" bIns="27432" anchor="t">
            <a:spAutoFit/>
          </a:bodyPr>
          <a:lstStyle/>
          <a:p>
            <a:pPr algn="l">
              <a:lnSpc>
                <a:spcPct val="100000"/>
              </a:lnSpc>
            </a:pPr>
            <a:r>
              <a:rPr sz="1500" b="1">
                <a:solidFill>
                  <a:srgbClr val="4E8DFF"/>
                </a:solidFill>
                <a:latin typeface="Aptos"/>
              </a:rPr>
              <a:t>02</a:t>
            </a:r>
          </a:p>
        </p:txBody>
      </p:sp>
      <p:sp>
        <p:nvSpPr>
          <p:cNvPr id="14" name="TextBox 13"/>
          <p:cNvSpPr txBox="1"/>
          <p:nvPr/>
        </p:nvSpPr>
        <p:spPr>
          <a:xfrm>
            <a:off x="3547872" y="2011680"/>
            <a:ext cx="2048256" cy="310896"/>
          </a:xfrm>
          <a:prstGeom prst="rect">
            <a:avLst/>
          </a:prstGeom>
          <a:noFill/>
        </p:spPr>
        <p:txBody>
          <a:bodyPr wrap="square" lIns="27432" rIns="27432" tIns="27432" bIns="27432" anchor="t">
            <a:spAutoFit/>
          </a:bodyPr>
          <a:lstStyle/>
          <a:p>
            <a:pPr algn="l">
              <a:lnSpc>
                <a:spcPct val="100000"/>
              </a:lnSpc>
            </a:pPr>
            <a:r>
              <a:rPr sz="1700" b="1">
                <a:solidFill>
                  <a:srgbClr val="F7FAFF"/>
                </a:solidFill>
                <a:latin typeface="Aptos"/>
              </a:rPr>
              <a:t>Feature engineering</a:t>
            </a:r>
          </a:p>
        </p:txBody>
      </p:sp>
      <p:sp>
        <p:nvSpPr>
          <p:cNvPr id="15" name="TextBox 14"/>
          <p:cNvSpPr txBox="1"/>
          <p:nvPr/>
        </p:nvSpPr>
        <p:spPr>
          <a:xfrm>
            <a:off x="3547872" y="2542032"/>
            <a:ext cx="2048256" cy="493776"/>
          </a:xfrm>
          <a:prstGeom prst="rect">
            <a:avLst/>
          </a:prstGeom>
          <a:noFill/>
        </p:spPr>
        <p:txBody>
          <a:bodyPr wrap="square" lIns="27432" rIns="27432" tIns="27432" bIns="27432" anchor="t">
            <a:spAutoFit/>
          </a:bodyPr>
          <a:lstStyle/>
          <a:p>
            <a:pPr algn="l">
              <a:lnSpc>
                <a:spcPct val="100000"/>
              </a:lnSpc>
            </a:pPr>
            <a:r>
              <a:rPr sz="1350" b="0">
                <a:solidFill>
                  <a:srgbClr val="AFC0D1"/>
                </a:solidFill>
                <a:latin typeface="Aptos"/>
              </a:rPr>
              <a:t>54 deterministic features</a:t>
            </a:r>
          </a:p>
        </p:txBody>
      </p:sp>
      <p:sp>
        <p:nvSpPr>
          <p:cNvPr id="16" name="Chevron 15"/>
          <p:cNvSpPr/>
          <p:nvPr/>
        </p:nvSpPr>
        <p:spPr>
          <a:xfrm>
            <a:off x="5916168" y="2093976"/>
            <a:ext cx="301752" cy="475488"/>
          </a:xfrm>
          <a:prstGeom prst="chevron">
            <a:avLst/>
          </a:prstGeom>
          <a:solidFill>
            <a:srgbClr val="22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63056" y="1371600"/>
            <a:ext cx="2487168" cy="2029968"/>
          </a:xfrm>
          <a:prstGeom prst="roundRect">
            <a:avLst/>
          </a:prstGeom>
          <a:solidFill>
            <a:srgbClr val="102842"/>
          </a:solidFill>
          <a:ln w="17780">
            <a:solidFill>
              <a:srgbClr val="947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1572768"/>
            <a:ext cx="475488" cy="274320"/>
          </a:xfrm>
          <a:prstGeom prst="rect">
            <a:avLst/>
          </a:prstGeom>
          <a:noFill/>
        </p:spPr>
        <p:txBody>
          <a:bodyPr wrap="square" lIns="27432" rIns="27432" tIns="27432" bIns="27432" anchor="t">
            <a:spAutoFit/>
          </a:bodyPr>
          <a:lstStyle/>
          <a:p>
            <a:pPr algn="l">
              <a:lnSpc>
                <a:spcPct val="100000"/>
              </a:lnSpc>
            </a:pPr>
            <a:r>
              <a:rPr sz="1500" b="1">
                <a:solidFill>
                  <a:srgbClr val="947CFF"/>
                </a:solidFill>
                <a:latin typeface="Aptos"/>
              </a:rPr>
              <a:t>03</a:t>
            </a:r>
          </a:p>
        </p:txBody>
      </p:sp>
      <p:sp>
        <p:nvSpPr>
          <p:cNvPr id="19" name="TextBox 18"/>
          <p:cNvSpPr txBox="1"/>
          <p:nvPr/>
        </p:nvSpPr>
        <p:spPr>
          <a:xfrm>
            <a:off x="6364224" y="2011680"/>
            <a:ext cx="2048256" cy="310896"/>
          </a:xfrm>
          <a:prstGeom prst="rect">
            <a:avLst/>
          </a:prstGeom>
          <a:noFill/>
        </p:spPr>
        <p:txBody>
          <a:bodyPr wrap="square" lIns="27432" rIns="27432" tIns="27432" bIns="27432" anchor="t">
            <a:spAutoFit/>
          </a:bodyPr>
          <a:lstStyle/>
          <a:p>
            <a:pPr algn="l">
              <a:lnSpc>
                <a:spcPct val="100000"/>
              </a:lnSpc>
            </a:pPr>
            <a:r>
              <a:rPr sz="1700" b="1">
                <a:solidFill>
                  <a:srgbClr val="F7FAFF"/>
                </a:solidFill>
                <a:latin typeface="Aptos"/>
              </a:rPr>
              <a:t>Candidate search</a:t>
            </a:r>
          </a:p>
        </p:txBody>
      </p:sp>
      <p:sp>
        <p:nvSpPr>
          <p:cNvPr id="20" name="TextBox 19"/>
          <p:cNvSpPr txBox="1"/>
          <p:nvPr/>
        </p:nvSpPr>
        <p:spPr>
          <a:xfrm>
            <a:off x="6364224" y="2542032"/>
            <a:ext cx="2048256" cy="493776"/>
          </a:xfrm>
          <a:prstGeom prst="rect">
            <a:avLst/>
          </a:prstGeom>
          <a:noFill/>
        </p:spPr>
        <p:txBody>
          <a:bodyPr wrap="square" lIns="27432" rIns="27432" tIns="27432" bIns="27432" anchor="t">
            <a:spAutoFit/>
          </a:bodyPr>
          <a:lstStyle/>
          <a:p>
            <a:pPr algn="l">
              <a:lnSpc>
                <a:spcPct val="100000"/>
              </a:lnSpc>
            </a:pPr>
            <a:r>
              <a:rPr sz="1350" b="0">
                <a:solidFill>
                  <a:srgbClr val="AFC0D1"/>
                </a:solidFill>
                <a:latin typeface="Aptos"/>
              </a:rPr>
              <a:t>10 HGB configurations</a:t>
            </a:r>
          </a:p>
        </p:txBody>
      </p:sp>
      <p:sp>
        <p:nvSpPr>
          <p:cNvPr id="21" name="Chevron 20"/>
          <p:cNvSpPr/>
          <p:nvPr/>
        </p:nvSpPr>
        <p:spPr>
          <a:xfrm>
            <a:off x="8732520" y="2093976"/>
            <a:ext cx="301752" cy="475488"/>
          </a:xfrm>
          <a:prstGeom prst="chevron">
            <a:avLst/>
          </a:prstGeom>
          <a:solidFill>
            <a:srgbClr val="22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979408" y="1371600"/>
            <a:ext cx="2487168" cy="2029968"/>
          </a:xfrm>
          <a:prstGeom prst="roundRect">
            <a:avLst/>
          </a:prstGeom>
          <a:solidFill>
            <a:srgbClr val="102842"/>
          </a:solidFill>
          <a:ln w="17780">
            <a:solidFill>
              <a:srgbClr val="FF9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80576" y="1572768"/>
            <a:ext cx="475488" cy="274320"/>
          </a:xfrm>
          <a:prstGeom prst="rect">
            <a:avLst/>
          </a:prstGeom>
          <a:noFill/>
        </p:spPr>
        <p:txBody>
          <a:bodyPr wrap="square" lIns="27432" rIns="27432" tIns="27432" bIns="27432" anchor="t">
            <a:spAutoFit/>
          </a:bodyPr>
          <a:lstStyle/>
          <a:p>
            <a:pPr algn="l">
              <a:lnSpc>
                <a:spcPct val="100000"/>
              </a:lnSpc>
            </a:pPr>
            <a:r>
              <a:rPr sz="1500" b="1">
                <a:solidFill>
                  <a:srgbClr val="FF9C5B"/>
                </a:solidFill>
                <a:latin typeface="Aptos"/>
              </a:rPr>
              <a:t>04</a:t>
            </a:r>
          </a:p>
        </p:txBody>
      </p:sp>
      <p:sp>
        <p:nvSpPr>
          <p:cNvPr id="24" name="TextBox 23"/>
          <p:cNvSpPr txBox="1"/>
          <p:nvPr/>
        </p:nvSpPr>
        <p:spPr>
          <a:xfrm>
            <a:off x="9180576" y="2011680"/>
            <a:ext cx="2048256" cy="310896"/>
          </a:xfrm>
          <a:prstGeom prst="rect">
            <a:avLst/>
          </a:prstGeom>
          <a:noFill/>
        </p:spPr>
        <p:txBody>
          <a:bodyPr wrap="square" lIns="27432" rIns="27432" tIns="27432" bIns="27432" anchor="t">
            <a:spAutoFit/>
          </a:bodyPr>
          <a:lstStyle/>
          <a:p>
            <a:pPr algn="l">
              <a:lnSpc>
                <a:spcPct val="100000"/>
              </a:lnSpc>
            </a:pPr>
            <a:r>
              <a:rPr sz="1700" b="1">
                <a:solidFill>
                  <a:srgbClr val="F7FAFF"/>
                </a:solidFill>
                <a:latin typeface="Aptos"/>
              </a:rPr>
              <a:t>Selection</a:t>
            </a:r>
          </a:p>
        </p:txBody>
      </p:sp>
      <p:sp>
        <p:nvSpPr>
          <p:cNvPr id="25" name="TextBox 24"/>
          <p:cNvSpPr txBox="1"/>
          <p:nvPr/>
        </p:nvSpPr>
        <p:spPr>
          <a:xfrm>
            <a:off x="9180576" y="2542032"/>
            <a:ext cx="2048256" cy="493776"/>
          </a:xfrm>
          <a:prstGeom prst="rect">
            <a:avLst/>
          </a:prstGeom>
          <a:noFill/>
        </p:spPr>
        <p:txBody>
          <a:bodyPr wrap="square" lIns="27432" rIns="27432" tIns="27432" bIns="27432" anchor="t">
            <a:spAutoFit/>
          </a:bodyPr>
          <a:lstStyle/>
          <a:p>
            <a:pPr algn="l">
              <a:lnSpc>
                <a:spcPct val="100000"/>
              </a:lnSpc>
            </a:pPr>
            <a:r>
              <a:rPr sz="1350" b="0">
                <a:solidFill>
                  <a:srgbClr val="AFC0D1"/>
                </a:solidFill>
                <a:latin typeface="Aptos"/>
              </a:rPr>
              <a:t>Three-fold stratified CV</a:t>
            </a:r>
          </a:p>
        </p:txBody>
      </p:sp>
      <p:sp>
        <p:nvSpPr>
          <p:cNvPr id="26" name="Rounded Rectangle 25"/>
          <p:cNvSpPr/>
          <p:nvPr/>
        </p:nvSpPr>
        <p:spPr>
          <a:xfrm>
            <a:off x="530352" y="3758184"/>
            <a:ext cx="11128248" cy="1005840"/>
          </a:xfrm>
          <a:prstGeom prst="roundRect">
            <a:avLst/>
          </a:prstGeom>
          <a:solidFill>
            <a:srgbClr val="132F4D"/>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959352"/>
            <a:ext cx="2148840" cy="182880"/>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MODEL SELECTION OBJECTIVE</a:t>
            </a:r>
          </a:p>
        </p:txBody>
      </p:sp>
      <p:sp>
        <p:nvSpPr>
          <p:cNvPr id="28" name="TextBox 27"/>
          <p:cNvSpPr txBox="1"/>
          <p:nvPr/>
        </p:nvSpPr>
        <p:spPr>
          <a:xfrm>
            <a:off x="777240" y="4224528"/>
            <a:ext cx="1234440" cy="310896"/>
          </a:xfrm>
          <a:prstGeom prst="rect">
            <a:avLst/>
          </a:prstGeom>
          <a:noFill/>
        </p:spPr>
        <p:txBody>
          <a:bodyPr wrap="square" lIns="27432" rIns="27432" tIns="27432" bIns="27432" anchor="t">
            <a:spAutoFit/>
          </a:bodyPr>
          <a:lstStyle/>
          <a:p>
            <a:pPr algn="l">
              <a:lnSpc>
                <a:spcPct val="100000"/>
              </a:lnSpc>
            </a:pPr>
            <a:r>
              <a:rPr sz="2200" b="1">
                <a:solidFill>
                  <a:srgbClr val="F7FAFF"/>
                </a:solidFill>
                <a:latin typeface="Aptos"/>
              </a:rPr>
              <a:t>PR-AUC</a:t>
            </a:r>
          </a:p>
        </p:txBody>
      </p:sp>
      <p:sp>
        <p:nvSpPr>
          <p:cNvPr id="29" name="TextBox 28"/>
          <p:cNvSpPr txBox="1"/>
          <p:nvPr/>
        </p:nvSpPr>
        <p:spPr>
          <a:xfrm>
            <a:off x="2139696" y="4224528"/>
            <a:ext cx="4983480" cy="320040"/>
          </a:xfrm>
          <a:prstGeom prst="rect">
            <a:avLst/>
          </a:prstGeom>
          <a:noFill/>
        </p:spPr>
        <p:txBody>
          <a:bodyPr wrap="square" lIns="27432" rIns="27432" tIns="27432" bIns="27432" anchor="t">
            <a:spAutoFit/>
          </a:bodyPr>
          <a:lstStyle/>
          <a:p>
            <a:pPr algn="l">
              <a:lnSpc>
                <a:spcPct val="100000"/>
              </a:lnSpc>
            </a:pPr>
            <a:r>
              <a:rPr sz="1400" b="0">
                <a:solidFill>
                  <a:srgbClr val="AFC0D1"/>
                </a:solidFill>
                <a:latin typeface="Aptos"/>
              </a:rPr>
              <a:t>Selected because the positive class is 22.12% of the data</a:t>
            </a:r>
          </a:p>
        </p:txBody>
      </p:sp>
      <p:sp>
        <p:nvSpPr>
          <p:cNvPr id="30" name="TextBox 29"/>
          <p:cNvSpPr txBox="1"/>
          <p:nvPr/>
        </p:nvSpPr>
        <p:spPr>
          <a:xfrm>
            <a:off x="7543800" y="4187952"/>
            <a:ext cx="3730752" cy="310896"/>
          </a:xfrm>
          <a:prstGeom prst="rect">
            <a:avLst/>
          </a:prstGeom>
          <a:noFill/>
        </p:spPr>
        <p:txBody>
          <a:bodyPr wrap="square" lIns="27432" rIns="27432" tIns="27432" bIns="27432" anchor="t">
            <a:spAutoFit/>
          </a:bodyPr>
          <a:lstStyle/>
          <a:p>
            <a:pPr algn="r">
              <a:lnSpc>
                <a:spcPct val="100000"/>
              </a:lnSpc>
            </a:pPr>
            <a:r>
              <a:rPr sz="1400" b="1">
                <a:solidFill>
                  <a:srgbClr val="FF9C5B"/>
                </a:solidFill>
                <a:latin typeface="Aptos"/>
              </a:rPr>
              <a:t>Demographics excluded from prediction</a:t>
            </a:r>
          </a:p>
        </p:txBody>
      </p:sp>
      <p:sp>
        <p:nvSpPr>
          <p:cNvPr id="31" name="Rounded Rectangle 30"/>
          <p:cNvSpPr/>
          <p:nvPr/>
        </p:nvSpPr>
        <p:spPr>
          <a:xfrm>
            <a:off x="530352" y="5084064"/>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30352" y="5084064"/>
            <a:ext cx="54864" cy="82296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4944" y="5193792"/>
            <a:ext cx="2425446" cy="378561"/>
          </a:xfrm>
          <a:prstGeom prst="rect">
            <a:avLst/>
          </a:prstGeom>
          <a:noFill/>
        </p:spPr>
        <p:txBody>
          <a:bodyPr wrap="square" lIns="27432" rIns="27432" tIns="27432" bIns="27432" anchor="t">
            <a:spAutoFit/>
          </a:bodyPr>
          <a:lstStyle/>
          <a:p>
            <a:pPr algn="l">
              <a:lnSpc>
                <a:spcPct val="100000"/>
              </a:lnSpc>
            </a:pPr>
            <a:r>
              <a:rPr sz="1800" b="1">
                <a:solidFill>
                  <a:srgbClr val="55D7E3"/>
                </a:solidFill>
                <a:latin typeface="Aptos"/>
              </a:rPr>
              <a:t>0.05</a:t>
            </a:r>
          </a:p>
        </p:txBody>
      </p:sp>
      <p:sp>
        <p:nvSpPr>
          <p:cNvPr id="34" name="TextBox 33"/>
          <p:cNvSpPr txBox="1"/>
          <p:nvPr/>
        </p:nvSpPr>
        <p:spPr>
          <a:xfrm>
            <a:off x="694944" y="5553151"/>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LEARNING RATE</a:t>
            </a:r>
          </a:p>
        </p:txBody>
      </p:sp>
      <p:sp>
        <p:nvSpPr>
          <p:cNvPr id="35" name="Rounded Rectangle 34"/>
          <p:cNvSpPr/>
          <p:nvPr/>
        </p:nvSpPr>
        <p:spPr>
          <a:xfrm>
            <a:off x="3339846" y="5084064"/>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39846" y="5084064"/>
            <a:ext cx="54864" cy="822960"/>
          </a:xfrm>
          <a:prstGeom prst="rect">
            <a:avLst/>
          </a:prstGeom>
          <a:solidFill>
            <a:srgbClr val="4E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04438" y="5193792"/>
            <a:ext cx="2425446" cy="378561"/>
          </a:xfrm>
          <a:prstGeom prst="rect">
            <a:avLst/>
          </a:prstGeom>
          <a:noFill/>
        </p:spPr>
        <p:txBody>
          <a:bodyPr wrap="square" lIns="27432" rIns="27432" tIns="27432" bIns="27432" anchor="t">
            <a:spAutoFit/>
          </a:bodyPr>
          <a:lstStyle/>
          <a:p>
            <a:pPr algn="l">
              <a:lnSpc>
                <a:spcPct val="100000"/>
              </a:lnSpc>
            </a:pPr>
            <a:r>
              <a:rPr sz="1800" b="1">
                <a:solidFill>
                  <a:srgbClr val="4E8DFF"/>
                </a:solidFill>
                <a:latin typeface="Aptos"/>
              </a:rPr>
              <a:t>15</a:t>
            </a:r>
          </a:p>
        </p:txBody>
      </p:sp>
      <p:sp>
        <p:nvSpPr>
          <p:cNvPr id="38" name="TextBox 37"/>
          <p:cNvSpPr txBox="1"/>
          <p:nvPr/>
        </p:nvSpPr>
        <p:spPr>
          <a:xfrm>
            <a:off x="3504438" y="5553151"/>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MAX LEAF NODES</a:t>
            </a:r>
          </a:p>
        </p:txBody>
      </p:sp>
      <p:sp>
        <p:nvSpPr>
          <p:cNvPr id="39" name="Rounded Rectangle 38"/>
          <p:cNvSpPr/>
          <p:nvPr/>
        </p:nvSpPr>
        <p:spPr>
          <a:xfrm>
            <a:off x="6149340" y="5084064"/>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49340" y="5084064"/>
            <a:ext cx="54864" cy="822960"/>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13932" y="5193792"/>
            <a:ext cx="2425446" cy="378561"/>
          </a:xfrm>
          <a:prstGeom prst="rect">
            <a:avLst/>
          </a:prstGeom>
          <a:noFill/>
        </p:spPr>
        <p:txBody>
          <a:bodyPr wrap="square" lIns="27432" rIns="27432" tIns="27432" bIns="27432" anchor="t">
            <a:spAutoFit/>
          </a:bodyPr>
          <a:lstStyle/>
          <a:p>
            <a:pPr algn="l">
              <a:lnSpc>
                <a:spcPct val="100000"/>
              </a:lnSpc>
            </a:pPr>
            <a:r>
              <a:rPr sz="1800" b="1">
                <a:solidFill>
                  <a:srgbClr val="947CFF"/>
                </a:solidFill>
                <a:latin typeface="Aptos"/>
              </a:rPr>
              <a:t>600</a:t>
            </a:r>
          </a:p>
        </p:txBody>
      </p:sp>
      <p:sp>
        <p:nvSpPr>
          <p:cNvPr id="42" name="TextBox 41"/>
          <p:cNvSpPr txBox="1"/>
          <p:nvPr/>
        </p:nvSpPr>
        <p:spPr>
          <a:xfrm>
            <a:off x="6313932" y="5553151"/>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MAX ITERATIONS</a:t>
            </a:r>
          </a:p>
        </p:txBody>
      </p:sp>
      <p:sp>
        <p:nvSpPr>
          <p:cNvPr id="43" name="Rounded Rectangle 42"/>
          <p:cNvSpPr/>
          <p:nvPr/>
        </p:nvSpPr>
        <p:spPr>
          <a:xfrm>
            <a:off x="8958834" y="5084064"/>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958834" y="5084064"/>
            <a:ext cx="54864" cy="822960"/>
          </a:xfrm>
          <a:prstGeom prst="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23426" y="5193792"/>
            <a:ext cx="2425446" cy="378561"/>
          </a:xfrm>
          <a:prstGeom prst="rect">
            <a:avLst/>
          </a:prstGeom>
          <a:noFill/>
        </p:spPr>
        <p:txBody>
          <a:bodyPr wrap="square" lIns="27432" rIns="27432" tIns="27432" bIns="27432" anchor="t">
            <a:spAutoFit/>
          </a:bodyPr>
          <a:lstStyle/>
          <a:p>
            <a:pPr algn="l">
              <a:lnSpc>
                <a:spcPct val="100000"/>
              </a:lnSpc>
            </a:pPr>
            <a:r>
              <a:rPr sz="1800" b="1">
                <a:solidFill>
                  <a:srgbClr val="FF9C5B"/>
                </a:solidFill>
                <a:latin typeface="Aptos"/>
              </a:rPr>
              <a:t>30</a:t>
            </a:r>
          </a:p>
        </p:txBody>
      </p:sp>
      <p:sp>
        <p:nvSpPr>
          <p:cNvPr id="46" name="TextBox 45"/>
          <p:cNvSpPr txBox="1"/>
          <p:nvPr/>
        </p:nvSpPr>
        <p:spPr>
          <a:xfrm>
            <a:off x="9123426" y="5553151"/>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EARLY-STOP PATIENCE</a:t>
            </a:r>
          </a:p>
        </p:txBody>
      </p:sp>
      <p:sp>
        <p:nvSpPr>
          <p:cNvPr id="47" name="TextBox 46"/>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github.com/Awais-Asghar/customer-intelligence-ml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TRAINING DIAGNOSTICS</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Early stopping controls unnecessary boosting</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09</a:t>
            </a:r>
          </a:p>
        </p:txBody>
      </p:sp>
      <p:sp>
        <p:nvSpPr>
          <p:cNvPr id="7" name="Rounded Rectangle 6"/>
          <p:cNvSpPr/>
          <p:nvPr/>
        </p:nvSpPr>
        <p:spPr>
          <a:xfrm>
            <a:off x="530352" y="1143000"/>
            <a:ext cx="11128248" cy="2980944"/>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raining-validation-loss.png"/>
          <p:cNvPicPr>
            <a:picLocks noChangeAspect="1"/>
          </p:cNvPicPr>
          <p:nvPr/>
        </p:nvPicPr>
        <p:blipFill>
          <a:blip r:embed="rId2"/>
          <a:stretch>
            <a:fillRect/>
          </a:stretch>
        </p:blipFill>
        <p:spPr>
          <a:xfrm>
            <a:off x="585215" y="1363759"/>
            <a:ext cx="11018520" cy="2539424"/>
          </a:xfrm>
          <a:prstGeom prst="rect">
            <a:avLst/>
          </a:prstGeom>
        </p:spPr>
      </p:pic>
      <p:sp>
        <p:nvSpPr>
          <p:cNvPr id="9" name="Rounded Rectangle 8"/>
          <p:cNvSpPr/>
          <p:nvPr/>
        </p:nvSpPr>
        <p:spPr>
          <a:xfrm>
            <a:off x="530352" y="4325112"/>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4325112"/>
            <a:ext cx="54864" cy="82296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4434840"/>
            <a:ext cx="2425446" cy="378561"/>
          </a:xfrm>
          <a:prstGeom prst="rect">
            <a:avLst/>
          </a:prstGeom>
          <a:noFill/>
        </p:spPr>
        <p:txBody>
          <a:bodyPr wrap="square" lIns="27432" rIns="27432" tIns="27432" bIns="27432" anchor="t">
            <a:spAutoFit/>
          </a:bodyPr>
          <a:lstStyle/>
          <a:p>
            <a:pPr algn="l">
              <a:lnSpc>
                <a:spcPct val="100000"/>
              </a:lnSpc>
            </a:pPr>
            <a:r>
              <a:rPr sz="1800" b="1">
                <a:solidFill>
                  <a:srgbClr val="55D7E3"/>
                </a:solidFill>
                <a:latin typeface="Aptos"/>
              </a:rPr>
              <a:t>81</a:t>
            </a:r>
          </a:p>
        </p:txBody>
      </p:sp>
      <p:sp>
        <p:nvSpPr>
          <p:cNvPr id="12" name="TextBox 11"/>
          <p:cNvSpPr txBox="1"/>
          <p:nvPr/>
        </p:nvSpPr>
        <p:spPr>
          <a:xfrm>
            <a:off x="694944" y="4794199"/>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FOLD 1 BEST ITERATION</a:t>
            </a:r>
          </a:p>
        </p:txBody>
      </p:sp>
      <p:sp>
        <p:nvSpPr>
          <p:cNvPr id="13" name="Rounded Rectangle 12"/>
          <p:cNvSpPr/>
          <p:nvPr/>
        </p:nvSpPr>
        <p:spPr>
          <a:xfrm>
            <a:off x="3339846" y="4325112"/>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9846" y="4325112"/>
            <a:ext cx="54864" cy="822960"/>
          </a:xfrm>
          <a:prstGeom prst="rect">
            <a:avLst/>
          </a:prstGeom>
          <a:solidFill>
            <a:srgbClr val="4E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04438" y="4434840"/>
            <a:ext cx="2425446" cy="378561"/>
          </a:xfrm>
          <a:prstGeom prst="rect">
            <a:avLst/>
          </a:prstGeom>
          <a:noFill/>
        </p:spPr>
        <p:txBody>
          <a:bodyPr wrap="square" lIns="27432" rIns="27432" tIns="27432" bIns="27432" anchor="t">
            <a:spAutoFit/>
          </a:bodyPr>
          <a:lstStyle/>
          <a:p>
            <a:pPr algn="l">
              <a:lnSpc>
                <a:spcPct val="100000"/>
              </a:lnSpc>
            </a:pPr>
            <a:r>
              <a:rPr sz="1800" b="1">
                <a:solidFill>
                  <a:srgbClr val="4E8DFF"/>
                </a:solidFill>
                <a:latin typeface="Aptos"/>
              </a:rPr>
              <a:t>72</a:t>
            </a:r>
          </a:p>
        </p:txBody>
      </p:sp>
      <p:sp>
        <p:nvSpPr>
          <p:cNvPr id="16" name="TextBox 15"/>
          <p:cNvSpPr txBox="1"/>
          <p:nvPr/>
        </p:nvSpPr>
        <p:spPr>
          <a:xfrm>
            <a:off x="3504438" y="4794199"/>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FOLD 2 BEST ITERATION</a:t>
            </a:r>
          </a:p>
        </p:txBody>
      </p:sp>
      <p:sp>
        <p:nvSpPr>
          <p:cNvPr id="17" name="Rounded Rectangle 16"/>
          <p:cNvSpPr/>
          <p:nvPr/>
        </p:nvSpPr>
        <p:spPr>
          <a:xfrm>
            <a:off x="6149340" y="4325112"/>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49340" y="4325112"/>
            <a:ext cx="54864" cy="822960"/>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13932" y="4434840"/>
            <a:ext cx="2425446" cy="378561"/>
          </a:xfrm>
          <a:prstGeom prst="rect">
            <a:avLst/>
          </a:prstGeom>
          <a:noFill/>
        </p:spPr>
        <p:txBody>
          <a:bodyPr wrap="square" lIns="27432" rIns="27432" tIns="27432" bIns="27432" anchor="t">
            <a:spAutoFit/>
          </a:bodyPr>
          <a:lstStyle/>
          <a:p>
            <a:pPr algn="l">
              <a:lnSpc>
                <a:spcPct val="100000"/>
              </a:lnSpc>
            </a:pPr>
            <a:r>
              <a:rPr sz="1800" b="1">
                <a:solidFill>
                  <a:srgbClr val="947CFF"/>
                </a:solidFill>
                <a:latin typeface="Aptos"/>
              </a:rPr>
              <a:t>138</a:t>
            </a:r>
          </a:p>
        </p:txBody>
      </p:sp>
      <p:sp>
        <p:nvSpPr>
          <p:cNvPr id="20" name="TextBox 19"/>
          <p:cNvSpPr txBox="1"/>
          <p:nvPr/>
        </p:nvSpPr>
        <p:spPr>
          <a:xfrm>
            <a:off x="6313932" y="4794199"/>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FOLD 3 BEST ITERATION</a:t>
            </a:r>
          </a:p>
        </p:txBody>
      </p:sp>
      <p:sp>
        <p:nvSpPr>
          <p:cNvPr id="21" name="Rounded Rectangle 20"/>
          <p:cNvSpPr/>
          <p:nvPr/>
        </p:nvSpPr>
        <p:spPr>
          <a:xfrm>
            <a:off x="8958834" y="4325112"/>
            <a:ext cx="2699766"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58834" y="4325112"/>
            <a:ext cx="54864" cy="822960"/>
          </a:xfrm>
          <a:prstGeom prst="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23426" y="4434840"/>
            <a:ext cx="2425446" cy="378561"/>
          </a:xfrm>
          <a:prstGeom prst="rect">
            <a:avLst/>
          </a:prstGeom>
          <a:noFill/>
        </p:spPr>
        <p:txBody>
          <a:bodyPr wrap="square" lIns="27432" rIns="27432" tIns="27432" bIns="27432" anchor="t">
            <a:spAutoFit/>
          </a:bodyPr>
          <a:lstStyle/>
          <a:p>
            <a:pPr algn="l">
              <a:lnSpc>
                <a:spcPct val="100000"/>
              </a:lnSpc>
            </a:pPr>
            <a:r>
              <a:rPr sz="1800" b="1">
                <a:solidFill>
                  <a:srgbClr val="FF9C5B"/>
                </a:solidFill>
                <a:latin typeface="Aptos"/>
              </a:rPr>
              <a:t>600</a:t>
            </a:r>
          </a:p>
        </p:txBody>
      </p:sp>
      <p:sp>
        <p:nvSpPr>
          <p:cNvPr id="24" name="TextBox 23"/>
          <p:cNvSpPr txBox="1"/>
          <p:nvPr/>
        </p:nvSpPr>
        <p:spPr>
          <a:xfrm>
            <a:off x="9123426" y="4794199"/>
            <a:ext cx="2425446"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MAXIMUM CAP</a:t>
            </a:r>
          </a:p>
        </p:txBody>
      </p:sp>
      <p:sp>
        <p:nvSpPr>
          <p:cNvPr id="25" name="Rounded Rectangle 24"/>
          <p:cNvSpPr/>
          <p:nvPr/>
        </p:nvSpPr>
        <p:spPr>
          <a:xfrm>
            <a:off x="530352" y="5385816"/>
            <a:ext cx="11128248" cy="786384"/>
          </a:xfrm>
          <a:prstGeom prst="roundRect">
            <a:avLst/>
          </a:prstGeom>
          <a:solidFill>
            <a:srgbClr val="132F4D"/>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5586984"/>
            <a:ext cx="1938528" cy="210312"/>
          </a:xfrm>
          <a:prstGeom prst="rect">
            <a:avLst/>
          </a:prstGeom>
          <a:noFill/>
        </p:spPr>
        <p:txBody>
          <a:bodyPr wrap="square" lIns="27432" rIns="27432" tIns="27432" bIns="27432" anchor="t">
            <a:spAutoFit/>
          </a:bodyPr>
          <a:lstStyle/>
          <a:p>
            <a:pPr algn="l">
              <a:lnSpc>
                <a:spcPct val="100000"/>
              </a:lnSpc>
            </a:pPr>
            <a:r>
              <a:rPr sz="1000" b="1">
                <a:solidFill>
                  <a:srgbClr val="55D7E3"/>
                </a:solidFill>
                <a:latin typeface="Aptos"/>
              </a:rPr>
              <a:t>Final calibrated estimators</a:t>
            </a:r>
          </a:p>
        </p:txBody>
      </p:sp>
      <p:sp>
        <p:nvSpPr>
          <p:cNvPr id="27" name="TextBox 26"/>
          <p:cNvSpPr txBox="1"/>
          <p:nvPr/>
        </p:nvSpPr>
        <p:spPr>
          <a:xfrm>
            <a:off x="2633472" y="5541264"/>
            <a:ext cx="3145536" cy="265176"/>
          </a:xfrm>
          <a:prstGeom prst="rect">
            <a:avLst/>
          </a:prstGeom>
          <a:noFill/>
        </p:spPr>
        <p:txBody>
          <a:bodyPr wrap="square" lIns="27432" rIns="27432" tIns="27432" bIns="27432" anchor="t">
            <a:spAutoFit/>
          </a:bodyPr>
          <a:lstStyle/>
          <a:p>
            <a:pPr algn="l">
              <a:lnSpc>
                <a:spcPct val="100000"/>
              </a:lnSpc>
            </a:pPr>
            <a:r>
              <a:rPr sz="1600" b="1">
                <a:solidFill>
                  <a:srgbClr val="F7FAFF"/>
                </a:solidFill>
                <a:latin typeface="Aptos"/>
              </a:rPr>
              <a:t>116, 131, and 106 iterations</a:t>
            </a:r>
          </a:p>
        </p:txBody>
      </p:sp>
      <p:sp>
        <p:nvSpPr>
          <p:cNvPr id="28" name="TextBox 27"/>
          <p:cNvSpPr txBox="1"/>
          <p:nvPr/>
        </p:nvSpPr>
        <p:spPr>
          <a:xfrm>
            <a:off x="8613648" y="5577840"/>
            <a:ext cx="2743200" cy="228600"/>
          </a:xfrm>
          <a:prstGeom prst="rect">
            <a:avLst/>
          </a:prstGeom>
          <a:noFill/>
        </p:spPr>
        <p:txBody>
          <a:bodyPr wrap="square" lIns="27432" rIns="27432" tIns="27432" bIns="27432" anchor="t">
            <a:spAutoFit/>
          </a:bodyPr>
          <a:lstStyle/>
          <a:p>
            <a:pPr algn="r">
              <a:lnSpc>
                <a:spcPct val="100000"/>
              </a:lnSpc>
            </a:pPr>
            <a:r>
              <a:rPr sz="1300" b="1">
                <a:solidFill>
                  <a:srgbClr val="4ED6A6"/>
                </a:solidFill>
                <a:latin typeface="Aptos"/>
              </a:rPr>
              <a:t>No fold reached the cap</a:t>
            </a:r>
          </a:p>
        </p:txBody>
      </p:sp>
      <p:sp>
        <p:nvSpPr>
          <p:cNvPr id="29" name="TextBox 28"/>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github.com/Awais-Asghar/customer-intelligence-ml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CALIBRATION</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Threshold selection is an operating decision</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10</a:t>
            </a:r>
          </a:p>
        </p:txBody>
      </p:sp>
      <p:sp>
        <p:nvSpPr>
          <p:cNvPr id="7" name="Rounded Rectangle 6"/>
          <p:cNvSpPr/>
          <p:nvPr/>
        </p:nvSpPr>
        <p:spPr>
          <a:xfrm>
            <a:off x="530352" y="1152144"/>
            <a:ext cx="11128248" cy="3392424"/>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hreshold-and-calibration.png"/>
          <p:cNvPicPr>
            <a:picLocks noChangeAspect="1"/>
          </p:cNvPicPr>
          <p:nvPr/>
        </p:nvPicPr>
        <p:blipFill>
          <a:blip r:embed="rId2"/>
          <a:stretch>
            <a:fillRect/>
          </a:stretch>
        </p:blipFill>
        <p:spPr>
          <a:xfrm>
            <a:off x="606218" y="1207008"/>
            <a:ext cx="10976514" cy="3282696"/>
          </a:xfrm>
          <a:prstGeom prst="rect">
            <a:avLst/>
          </a:prstGeom>
        </p:spPr>
      </p:pic>
      <p:sp>
        <p:nvSpPr>
          <p:cNvPr id="9" name="Rounded Rectangle 8"/>
          <p:cNvSpPr/>
          <p:nvPr/>
        </p:nvSpPr>
        <p:spPr>
          <a:xfrm>
            <a:off x="530352" y="4773168"/>
            <a:ext cx="2852928" cy="1024128"/>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4773168"/>
            <a:ext cx="54864" cy="1024128"/>
          </a:xfrm>
          <a:prstGeom prst="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4882896"/>
            <a:ext cx="2578608" cy="471098"/>
          </a:xfrm>
          <a:prstGeom prst="rect">
            <a:avLst/>
          </a:prstGeom>
          <a:noFill/>
        </p:spPr>
        <p:txBody>
          <a:bodyPr wrap="square" lIns="27432" rIns="27432" tIns="27432" bIns="27432" anchor="t">
            <a:spAutoFit/>
          </a:bodyPr>
          <a:lstStyle/>
          <a:p>
            <a:pPr algn="l">
              <a:lnSpc>
                <a:spcPct val="100000"/>
              </a:lnSpc>
            </a:pPr>
            <a:r>
              <a:rPr sz="2400" b="1">
                <a:solidFill>
                  <a:srgbClr val="FF9C5B"/>
                </a:solidFill>
                <a:latin typeface="Aptos"/>
              </a:rPr>
              <a:t>0.2916</a:t>
            </a:r>
          </a:p>
        </p:txBody>
      </p:sp>
      <p:sp>
        <p:nvSpPr>
          <p:cNvPr id="12" name="TextBox 11"/>
          <p:cNvSpPr txBox="1"/>
          <p:nvPr/>
        </p:nvSpPr>
        <p:spPr>
          <a:xfrm>
            <a:off x="694944" y="5356920"/>
            <a:ext cx="2578608" cy="286755"/>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VALIDATION-SELECTED THRESHOLD</a:t>
            </a:r>
          </a:p>
        </p:txBody>
      </p:sp>
      <p:sp>
        <p:nvSpPr>
          <p:cNvPr id="13" name="Rounded Rectangle 12"/>
          <p:cNvSpPr/>
          <p:nvPr/>
        </p:nvSpPr>
        <p:spPr>
          <a:xfrm>
            <a:off x="3593592" y="4773168"/>
            <a:ext cx="3840480" cy="1024128"/>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13048" y="4956048"/>
            <a:ext cx="594360" cy="201168"/>
          </a:xfrm>
          <a:prstGeom prst="rect">
            <a:avLst/>
          </a:prstGeom>
          <a:noFill/>
        </p:spPr>
        <p:txBody>
          <a:bodyPr wrap="square" lIns="27432" rIns="27432" tIns="27432" bIns="27432" anchor="t">
            <a:spAutoFit/>
          </a:bodyPr>
          <a:lstStyle/>
          <a:p>
            <a:pPr algn="l">
              <a:lnSpc>
                <a:spcPct val="100000"/>
              </a:lnSpc>
            </a:pPr>
            <a:r>
              <a:rPr sz="1000" b="1">
                <a:solidFill>
                  <a:srgbClr val="4ED6A6"/>
                </a:solidFill>
                <a:latin typeface="Aptos"/>
              </a:rPr>
              <a:t>GAINS</a:t>
            </a:r>
          </a:p>
        </p:txBody>
      </p:sp>
      <p:sp>
        <p:nvSpPr>
          <p:cNvPr id="15" name="TextBox 14"/>
          <p:cNvSpPr txBox="1"/>
          <p:nvPr/>
        </p:nvSpPr>
        <p:spPr>
          <a:xfrm>
            <a:off x="3813048" y="5257800"/>
            <a:ext cx="3383280" cy="256032"/>
          </a:xfrm>
          <a:prstGeom prst="rect">
            <a:avLst/>
          </a:prstGeom>
          <a:noFill/>
        </p:spPr>
        <p:txBody>
          <a:bodyPr wrap="square" lIns="27432" rIns="27432" tIns="27432" bIns="27432" anchor="t">
            <a:spAutoFit/>
          </a:bodyPr>
          <a:lstStyle/>
          <a:p>
            <a:pPr algn="l">
              <a:lnSpc>
                <a:spcPct val="100000"/>
              </a:lnSpc>
            </a:pPr>
            <a:r>
              <a:rPr sz="1450" b="1">
                <a:solidFill>
                  <a:srgbClr val="F7FAFF"/>
                </a:solidFill>
                <a:latin typeface="Aptos"/>
              </a:rPr>
              <a:t>Recall, balanced accuracy, and F1</a:t>
            </a:r>
          </a:p>
        </p:txBody>
      </p:sp>
      <p:sp>
        <p:nvSpPr>
          <p:cNvPr id="16" name="Rounded Rectangle 15"/>
          <p:cNvSpPr/>
          <p:nvPr/>
        </p:nvSpPr>
        <p:spPr>
          <a:xfrm>
            <a:off x="7644383" y="4773168"/>
            <a:ext cx="4014215" cy="1024128"/>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956048"/>
            <a:ext cx="822960" cy="201168"/>
          </a:xfrm>
          <a:prstGeom prst="rect">
            <a:avLst/>
          </a:prstGeom>
          <a:noFill/>
        </p:spPr>
        <p:txBody>
          <a:bodyPr wrap="square" lIns="27432" rIns="27432" tIns="27432" bIns="27432" anchor="t">
            <a:spAutoFit/>
          </a:bodyPr>
          <a:lstStyle/>
          <a:p>
            <a:pPr algn="l">
              <a:lnSpc>
                <a:spcPct val="100000"/>
              </a:lnSpc>
            </a:pPr>
            <a:r>
              <a:rPr sz="1000" b="1">
                <a:solidFill>
                  <a:srgbClr val="FF9C5B"/>
                </a:solidFill>
                <a:latin typeface="Aptos"/>
              </a:rPr>
              <a:t>TRADEOFF</a:t>
            </a:r>
          </a:p>
        </p:txBody>
      </p:sp>
      <p:sp>
        <p:nvSpPr>
          <p:cNvPr id="18" name="TextBox 17"/>
          <p:cNvSpPr txBox="1"/>
          <p:nvPr/>
        </p:nvSpPr>
        <p:spPr>
          <a:xfrm>
            <a:off x="7863840" y="5257800"/>
            <a:ext cx="3547872" cy="256032"/>
          </a:xfrm>
          <a:prstGeom prst="rect">
            <a:avLst/>
          </a:prstGeom>
          <a:noFill/>
        </p:spPr>
        <p:txBody>
          <a:bodyPr wrap="square" lIns="27432" rIns="27432" tIns="27432" bIns="27432" anchor="t">
            <a:spAutoFit/>
          </a:bodyPr>
          <a:lstStyle/>
          <a:p>
            <a:pPr algn="l">
              <a:lnSpc>
                <a:spcPct val="100000"/>
              </a:lnSpc>
            </a:pPr>
            <a:r>
              <a:rPr sz="1450" b="1">
                <a:solidFill>
                  <a:srgbClr val="F7FAFF"/>
                </a:solidFill>
                <a:latin typeface="Aptos"/>
              </a:rPr>
              <a:t>Lower precision and overall accuracy</a:t>
            </a:r>
          </a:p>
        </p:txBody>
      </p:sp>
      <p:sp>
        <p:nvSpPr>
          <p:cNvPr id="19" name="Rounded Rectangle 18"/>
          <p:cNvSpPr/>
          <p:nvPr/>
        </p:nvSpPr>
        <p:spPr>
          <a:xfrm>
            <a:off x="530352" y="5989320"/>
            <a:ext cx="11128248" cy="329184"/>
          </a:xfrm>
          <a:prstGeom prst="roundRect">
            <a:avLst/>
          </a:prstGeom>
          <a:solidFill>
            <a:srgbClr val="132F4D"/>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 y="6053328"/>
            <a:ext cx="10643616" cy="164592"/>
          </a:xfrm>
          <a:prstGeom prst="rect">
            <a:avLst/>
          </a:prstGeom>
          <a:noFill/>
        </p:spPr>
        <p:txBody>
          <a:bodyPr wrap="square" lIns="27432" rIns="27432" tIns="27432" bIns="27432" anchor="t">
            <a:spAutoFit/>
          </a:bodyPr>
          <a:lstStyle/>
          <a:p>
            <a:pPr algn="ctr">
              <a:lnSpc>
                <a:spcPct val="100000"/>
              </a:lnSpc>
            </a:pPr>
            <a:r>
              <a:rPr sz="1150" b="0">
                <a:solidFill>
                  <a:srgbClr val="AFC0D1"/>
                </a:solidFill>
                <a:latin typeface="Aptos"/>
              </a:rPr>
              <a:t>ROC-AUC and PR-AUC do not change when only the decision threshold changes.</a:t>
            </a:r>
          </a:p>
        </p:txBody>
      </p:sp>
      <p:sp>
        <p:nvSpPr>
          <p:cNvPr id="21" name="TextBox 20"/>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github.com/Awais-Asghar/customer-intelligence-ml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FINAL EVALUATION</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The final test result is useful and honest</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11</a:t>
            </a:r>
          </a:p>
        </p:txBody>
      </p:sp>
      <p:sp>
        <p:nvSpPr>
          <p:cNvPr id="7" name="Rounded Rectangle 6"/>
          <p:cNvSpPr/>
          <p:nvPr/>
        </p:nvSpPr>
        <p:spPr>
          <a:xfrm>
            <a:off x="530352" y="1133856"/>
            <a:ext cx="11128248" cy="3931920"/>
          </a:xfrm>
          <a:prstGeom prst="roundRect">
            <a:avLst/>
          </a:prstGeom>
          <a:solidFill>
            <a:srgbClr val="F7FAFF"/>
          </a:solidFill>
          <a:ln w="1397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st-confusion-matrix-and-roc.png"/>
          <p:cNvPicPr>
            <a:picLocks noChangeAspect="1"/>
          </p:cNvPicPr>
          <p:nvPr/>
        </p:nvPicPr>
        <p:blipFill>
          <a:blip r:embed="rId2"/>
          <a:stretch>
            <a:fillRect/>
          </a:stretch>
        </p:blipFill>
        <p:spPr>
          <a:xfrm>
            <a:off x="585215" y="1202456"/>
            <a:ext cx="11018520" cy="3794718"/>
          </a:xfrm>
          <a:prstGeom prst="rect">
            <a:avLst/>
          </a:prstGeom>
        </p:spPr>
      </p:pic>
      <p:sp>
        <p:nvSpPr>
          <p:cNvPr id="9" name="Rounded Rectangle 8"/>
          <p:cNvSpPr/>
          <p:nvPr/>
        </p:nvSpPr>
        <p:spPr>
          <a:xfrm>
            <a:off x="530352" y="5248656"/>
            <a:ext cx="2137867"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30352" y="5248656"/>
            <a:ext cx="54864" cy="82296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5358384"/>
            <a:ext cx="1863547" cy="378561"/>
          </a:xfrm>
          <a:prstGeom prst="rect">
            <a:avLst/>
          </a:prstGeom>
          <a:noFill/>
        </p:spPr>
        <p:txBody>
          <a:bodyPr wrap="square" lIns="27432" rIns="27432" tIns="27432" bIns="27432" anchor="t">
            <a:spAutoFit/>
          </a:bodyPr>
          <a:lstStyle/>
          <a:p>
            <a:pPr algn="l">
              <a:lnSpc>
                <a:spcPct val="100000"/>
              </a:lnSpc>
            </a:pPr>
            <a:r>
              <a:rPr sz="1800" b="1">
                <a:solidFill>
                  <a:srgbClr val="55D7E3"/>
                </a:solidFill>
                <a:latin typeface="Aptos"/>
              </a:rPr>
              <a:t>80.47%</a:t>
            </a:r>
          </a:p>
        </p:txBody>
      </p:sp>
      <p:sp>
        <p:nvSpPr>
          <p:cNvPr id="12" name="TextBox 11"/>
          <p:cNvSpPr txBox="1"/>
          <p:nvPr/>
        </p:nvSpPr>
        <p:spPr>
          <a:xfrm>
            <a:off x="694944" y="5717743"/>
            <a:ext cx="1863547"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ACCURACY</a:t>
            </a:r>
          </a:p>
        </p:txBody>
      </p:sp>
      <p:sp>
        <p:nvSpPr>
          <p:cNvPr id="13" name="Rounded Rectangle 12"/>
          <p:cNvSpPr/>
          <p:nvPr/>
        </p:nvSpPr>
        <p:spPr>
          <a:xfrm>
            <a:off x="2777947" y="5248656"/>
            <a:ext cx="2137867"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77947" y="5248656"/>
            <a:ext cx="54864" cy="822960"/>
          </a:xfrm>
          <a:prstGeom prst="rect">
            <a:avLst/>
          </a:prstGeom>
          <a:solidFill>
            <a:srgbClr val="4E8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42539" y="5358384"/>
            <a:ext cx="1863547" cy="378561"/>
          </a:xfrm>
          <a:prstGeom prst="rect">
            <a:avLst/>
          </a:prstGeom>
          <a:noFill/>
        </p:spPr>
        <p:txBody>
          <a:bodyPr wrap="square" lIns="27432" rIns="27432" tIns="27432" bIns="27432" anchor="t">
            <a:spAutoFit/>
          </a:bodyPr>
          <a:lstStyle/>
          <a:p>
            <a:pPr algn="l">
              <a:lnSpc>
                <a:spcPct val="100000"/>
              </a:lnSpc>
            </a:pPr>
            <a:r>
              <a:rPr sz="1800" b="1">
                <a:solidFill>
                  <a:srgbClr val="4E8DFF"/>
                </a:solidFill>
                <a:latin typeface="Aptos"/>
              </a:rPr>
              <a:t>71.02%</a:t>
            </a:r>
          </a:p>
        </p:txBody>
      </p:sp>
      <p:sp>
        <p:nvSpPr>
          <p:cNvPr id="16" name="TextBox 15"/>
          <p:cNvSpPr txBox="1"/>
          <p:nvPr/>
        </p:nvSpPr>
        <p:spPr>
          <a:xfrm>
            <a:off x="2942539" y="5717743"/>
            <a:ext cx="1863547"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BALANCED ACCURACY</a:t>
            </a:r>
          </a:p>
        </p:txBody>
      </p:sp>
      <p:sp>
        <p:nvSpPr>
          <p:cNvPr id="17" name="Rounded Rectangle 16"/>
          <p:cNvSpPr/>
          <p:nvPr/>
        </p:nvSpPr>
        <p:spPr>
          <a:xfrm>
            <a:off x="5025542" y="5248656"/>
            <a:ext cx="2137867"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5542" y="5248656"/>
            <a:ext cx="54864" cy="822960"/>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90134" y="5358384"/>
            <a:ext cx="1863547" cy="378561"/>
          </a:xfrm>
          <a:prstGeom prst="rect">
            <a:avLst/>
          </a:prstGeom>
          <a:noFill/>
        </p:spPr>
        <p:txBody>
          <a:bodyPr wrap="square" lIns="27432" rIns="27432" tIns="27432" bIns="27432" anchor="t">
            <a:spAutoFit/>
          </a:bodyPr>
          <a:lstStyle/>
          <a:p>
            <a:pPr algn="l">
              <a:lnSpc>
                <a:spcPct val="100000"/>
              </a:lnSpc>
            </a:pPr>
            <a:r>
              <a:rPr sz="1800" b="1">
                <a:solidFill>
                  <a:srgbClr val="947CFF"/>
                </a:solidFill>
                <a:latin typeface="Aptos"/>
              </a:rPr>
              <a:t>56.09%</a:t>
            </a:r>
          </a:p>
        </p:txBody>
      </p:sp>
      <p:sp>
        <p:nvSpPr>
          <p:cNvPr id="20" name="TextBox 19"/>
          <p:cNvSpPr txBox="1"/>
          <p:nvPr/>
        </p:nvSpPr>
        <p:spPr>
          <a:xfrm>
            <a:off x="5190134" y="5717743"/>
            <a:ext cx="1863547"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PRECISION</a:t>
            </a:r>
          </a:p>
        </p:txBody>
      </p:sp>
      <p:sp>
        <p:nvSpPr>
          <p:cNvPr id="21" name="Rounded Rectangle 20"/>
          <p:cNvSpPr/>
          <p:nvPr/>
        </p:nvSpPr>
        <p:spPr>
          <a:xfrm>
            <a:off x="7273137" y="5248656"/>
            <a:ext cx="2137867"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273137" y="5248656"/>
            <a:ext cx="54864" cy="822960"/>
          </a:xfrm>
          <a:prstGeom prst="rect">
            <a:avLst/>
          </a:prstGeom>
          <a:solidFill>
            <a:srgbClr val="FF9C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37729" y="5358384"/>
            <a:ext cx="1863547" cy="378561"/>
          </a:xfrm>
          <a:prstGeom prst="rect">
            <a:avLst/>
          </a:prstGeom>
          <a:noFill/>
        </p:spPr>
        <p:txBody>
          <a:bodyPr wrap="square" lIns="27432" rIns="27432" tIns="27432" bIns="27432" anchor="t">
            <a:spAutoFit/>
          </a:bodyPr>
          <a:lstStyle/>
          <a:p>
            <a:pPr algn="l">
              <a:lnSpc>
                <a:spcPct val="100000"/>
              </a:lnSpc>
            </a:pPr>
            <a:r>
              <a:rPr sz="1800" b="1">
                <a:solidFill>
                  <a:srgbClr val="FF9C5B"/>
                </a:solidFill>
                <a:latin typeface="Aptos"/>
              </a:rPr>
              <a:t>54.07%</a:t>
            </a:r>
          </a:p>
        </p:txBody>
      </p:sp>
      <p:sp>
        <p:nvSpPr>
          <p:cNvPr id="24" name="TextBox 23"/>
          <p:cNvSpPr txBox="1"/>
          <p:nvPr/>
        </p:nvSpPr>
        <p:spPr>
          <a:xfrm>
            <a:off x="7437729" y="5717743"/>
            <a:ext cx="1863547"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RECALL</a:t>
            </a:r>
          </a:p>
        </p:txBody>
      </p:sp>
      <p:sp>
        <p:nvSpPr>
          <p:cNvPr id="25" name="Rounded Rectangle 24"/>
          <p:cNvSpPr/>
          <p:nvPr/>
        </p:nvSpPr>
        <p:spPr>
          <a:xfrm>
            <a:off x="9520732" y="5248656"/>
            <a:ext cx="2137867" cy="822960"/>
          </a:xfrm>
          <a:prstGeom prst="roundRect">
            <a:avLst/>
          </a:prstGeom>
          <a:solidFill>
            <a:srgbClr val="102842"/>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520732" y="5248656"/>
            <a:ext cx="54864" cy="822960"/>
          </a:xfrm>
          <a:prstGeom prst="rect">
            <a:avLst/>
          </a:prstGeom>
          <a:solidFill>
            <a:srgbClr val="4ED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85324" y="5358384"/>
            <a:ext cx="1863547" cy="378561"/>
          </a:xfrm>
          <a:prstGeom prst="rect">
            <a:avLst/>
          </a:prstGeom>
          <a:noFill/>
        </p:spPr>
        <p:txBody>
          <a:bodyPr wrap="square" lIns="27432" rIns="27432" tIns="27432" bIns="27432" anchor="t">
            <a:spAutoFit/>
          </a:bodyPr>
          <a:lstStyle/>
          <a:p>
            <a:pPr algn="l">
              <a:lnSpc>
                <a:spcPct val="100000"/>
              </a:lnSpc>
            </a:pPr>
            <a:r>
              <a:rPr sz="1800" b="1">
                <a:solidFill>
                  <a:srgbClr val="4ED6A6"/>
                </a:solidFill>
                <a:latin typeface="Aptos"/>
              </a:rPr>
              <a:t>55.06%</a:t>
            </a:r>
          </a:p>
        </p:txBody>
      </p:sp>
      <p:sp>
        <p:nvSpPr>
          <p:cNvPr id="28" name="TextBox 27"/>
          <p:cNvSpPr txBox="1"/>
          <p:nvPr/>
        </p:nvSpPr>
        <p:spPr>
          <a:xfrm>
            <a:off x="9685324" y="5717743"/>
            <a:ext cx="1863547" cy="230428"/>
          </a:xfrm>
          <a:prstGeom prst="rect">
            <a:avLst/>
          </a:prstGeom>
          <a:noFill/>
        </p:spPr>
        <p:txBody>
          <a:bodyPr wrap="square" lIns="27432" rIns="27432" tIns="27432" bIns="27432" anchor="t">
            <a:spAutoFit/>
          </a:bodyPr>
          <a:lstStyle/>
          <a:p>
            <a:pPr algn="l">
              <a:lnSpc>
                <a:spcPct val="100000"/>
              </a:lnSpc>
            </a:pPr>
            <a:r>
              <a:rPr sz="1050" b="1">
                <a:solidFill>
                  <a:srgbClr val="AFC0D1"/>
                </a:solidFill>
                <a:latin typeface="Aptos"/>
              </a:rPr>
              <a:t>F1 SCORE</a:t>
            </a:r>
          </a:p>
        </p:txBody>
      </p:sp>
      <p:sp>
        <p:nvSpPr>
          <p:cNvPr id="29" name="TextBox 28"/>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github.com/Awais-Asghar/customer-intelligence-ml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71628"/>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55D7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947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201168"/>
            <a:ext cx="5486400" cy="201168"/>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RESPONSIBLE ML</a:t>
            </a:r>
          </a:p>
        </p:txBody>
      </p:sp>
      <p:sp>
        <p:nvSpPr>
          <p:cNvPr id="5" name="TextBox 4"/>
          <p:cNvSpPr txBox="1"/>
          <p:nvPr/>
        </p:nvSpPr>
        <p:spPr>
          <a:xfrm>
            <a:off x="530352" y="438912"/>
            <a:ext cx="10881360" cy="475488"/>
          </a:xfrm>
          <a:prstGeom prst="rect">
            <a:avLst/>
          </a:prstGeom>
          <a:noFill/>
        </p:spPr>
        <p:txBody>
          <a:bodyPr wrap="square" lIns="27432" rIns="27432" tIns="27432" bIns="27432" anchor="t">
            <a:spAutoFit/>
          </a:bodyPr>
          <a:lstStyle/>
          <a:p>
            <a:pPr algn="l">
              <a:lnSpc>
                <a:spcPct val="100000"/>
              </a:lnSpc>
            </a:pPr>
            <a:r>
              <a:rPr sz="2800" b="1">
                <a:solidFill>
                  <a:srgbClr val="F7FAFF"/>
                </a:solidFill>
                <a:latin typeface="Aptos"/>
              </a:rPr>
              <a:t>What the project proves, and what it does not</a:t>
            </a:r>
          </a:p>
        </p:txBody>
      </p:sp>
      <p:sp>
        <p:nvSpPr>
          <p:cNvPr id="6" name="TextBox 5"/>
          <p:cNvSpPr txBox="1"/>
          <p:nvPr/>
        </p:nvSpPr>
        <p:spPr>
          <a:xfrm>
            <a:off x="11173968" y="228600"/>
            <a:ext cx="475488" cy="246888"/>
          </a:xfrm>
          <a:prstGeom prst="rect">
            <a:avLst/>
          </a:prstGeom>
          <a:noFill/>
        </p:spPr>
        <p:txBody>
          <a:bodyPr wrap="square" lIns="27432" rIns="27432" tIns="27432" bIns="27432" anchor="t">
            <a:spAutoFit/>
          </a:bodyPr>
          <a:lstStyle/>
          <a:p>
            <a:pPr algn="r">
              <a:lnSpc>
                <a:spcPct val="100000"/>
              </a:lnSpc>
            </a:pPr>
            <a:r>
              <a:rPr sz="1100" b="1">
                <a:solidFill>
                  <a:srgbClr val="AFC0D1"/>
                </a:solidFill>
                <a:latin typeface="Aptos"/>
              </a:rPr>
              <a:t>12</a:t>
            </a:r>
          </a:p>
        </p:txBody>
      </p:sp>
      <p:sp>
        <p:nvSpPr>
          <p:cNvPr id="7" name="Rounded Rectangle 6"/>
          <p:cNvSpPr/>
          <p:nvPr/>
        </p:nvSpPr>
        <p:spPr>
          <a:xfrm>
            <a:off x="530352" y="1170432"/>
            <a:ext cx="5422392" cy="4297680"/>
          </a:xfrm>
          <a:prstGeom prst="roundRect">
            <a:avLst/>
          </a:prstGeom>
          <a:solidFill>
            <a:srgbClr val="102842"/>
          </a:solidFill>
          <a:ln w="16510">
            <a:solidFill>
              <a:srgbClr val="55D7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435608"/>
            <a:ext cx="1097280" cy="219456"/>
          </a:xfrm>
          <a:prstGeom prst="rect">
            <a:avLst/>
          </a:prstGeom>
          <a:noFill/>
        </p:spPr>
        <p:txBody>
          <a:bodyPr wrap="square" lIns="27432" rIns="27432" tIns="27432" bIns="27432" anchor="t">
            <a:spAutoFit/>
          </a:bodyPr>
          <a:lstStyle/>
          <a:p>
            <a:pPr algn="l">
              <a:lnSpc>
                <a:spcPct val="100000"/>
              </a:lnSpc>
            </a:pPr>
            <a:r>
              <a:rPr sz="1100" b="1">
                <a:solidFill>
                  <a:srgbClr val="55D7E3"/>
                </a:solidFill>
                <a:latin typeface="Aptos"/>
              </a:rPr>
              <a:t>LESSONS</a:t>
            </a:r>
          </a:p>
        </p:txBody>
      </p:sp>
      <p:sp>
        <p:nvSpPr>
          <p:cNvPr id="9" name="TextBox 8"/>
          <p:cNvSpPr txBox="1"/>
          <p:nvPr/>
        </p:nvSpPr>
        <p:spPr>
          <a:xfrm>
            <a:off x="795528" y="1883664"/>
            <a:ext cx="4800600" cy="2468880"/>
          </a:xfrm>
          <a:prstGeom prst="rect">
            <a:avLst/>
          </a:prstGeom>
          <a:noFill/>
        </p:spPr>
        <p:txBody>
          <a:bodyPr wrap="square" lIns="36576" rIns="36576" tIns="18288" bIns="18288">
            <a:spAutoFit/>
          </a:bodyPr>
          <a:lstStyle/>
          <a:p>
            <a:pPr>
              <a:lnSpc>
                <a:spcPct val="105000"/>
              </a:lnSpc>
              <a:spcAft>
                <a:spcPts val="900"/>
              </a:spcAft>
            </a:pPr>
            <a:r>
              <a:rPr sz="1600">
                <a:solidFill>
                  <a:srgbClr val="55D7E3"/>
                </a:solidFill>
                <a:latin typeface="Aptos"/>
              </a:rPr>
              <a:t>•  Prevent leakage before optimizing metrics</a:t>
            </a:r>
          </a:p>
          <a:p>
            <a:pPr>
              <a:lnSpc>
                <a:spcPct val="105000"/>
              </a:lnSpc>
              <a:spcAft>
                <a:spcPts val="900"/>
              </a:spcAft>
            </a:pPr>
            <a:r>
              <a:rPr sz="1600">
                <a:solidFill>
                  <a:srgbClr val="55D7E3"/>
                </a:solidFill>
                <a:latin typeface="Aptos"/>
              </a:rPr>
              <a:t>•  Use separate methods for separate questions</a:t>
            </a:r>
          </a:p>
          <a:p>
            <a:pPr>
              <a:lnSpc>
                <a:spcPct val="105000"/>
              </a:lnSpc>
              <a:spcAft>
                <a:spcPts val="900"/>
              </a:spcAft>
            </a:pPr>
            <a:r>
              <a:rPr sz="1600">
                <a:solidFill>
                  <a:srgbClr val="55D7E3"/>
                </a:solidFill>
                <a:latin typeface="Aptos"/>
              </a:rPr>
              <a:t>•  Tune the threshold on validation data only</a:t>
            </a:r>
          </a:p>
          <a:p>
            <a:pPr>
              <a:lnSpc>
                <a:spcPct val="105000"/>
              </a:lnSpc>
              <a:spcAft>
                <a:spcPts val="900"/>
              </a:spcAft>
            </a:pPr>
            <a:r>
              <a:rPr sz="1600">
                <a:solidFill>
                  <a:srgbClr val="55D7E3"/>
                </a:solidFill>
                <a:latin typeface="Aptos"/>
              </a:rPr>
              <a:t>•  Treat negative results as useful evidence</a:t>
            </a:r>
          </a:p>
          <a:p>
            <a:pPr>
              <a:lnSpc>
                <a:spcPct val="105000"/>
              </a:lnSpc>
              <a:spcAft>
                <a:spcPts val="900"/>
              </a:spcAft>
            </a:pPr>
            <a:r>
              <a:rPr sz="1600">
                <a:solidFill>
                  <a:srgbClr val="55D7E3"/>
                </a:solidFill>
                <a:latin typeface="Aptos"/>
              </a:rPr>
              <a:t>•  Communicate uncertainty and operating tradeoffs</a:t>
            </a:r>
          </a:p>
        </p:txBody>
      </p:sp>
      <p:sp>
        <p:nvSpPr>
          <p:cNvPr id="10" name="Rounded Rectangle 9"/>
          <p:cNvSpPr/>
          <p:nvPr/>
        </p:nvSpPr>
        <p:spPr>
          <a:xfrm>
            <a:off x="6236208" y="1170432"/>
            <a:ext cx="5422392" cy="4297680"/>
          </a:xfrm>
          <a:prstGeom prst="roundRect">
            <a:avLst/>
          </a:prstGeom>
          <a:solidFill>
            <a:srgbClr val="102842"/>
          </a:solidFill>
          <a:ln w="16510">
            <a:solidFill>
              <a:srgbClr val="FF9C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1384" y="1435608"/>
            <a:ext cx="1097280" cy="219456"/>
          </a:xfrm>
          <a:prstGeom prst="rect">
            <a:avLst/>
          </a:prstGeom>
          <a:noFill/>
        </p:spPr>
        <p:txBody>
          <a:bodyPr wrap="square" lIns="27432" rIns="27432" tIns="27432" bIns="27432" anchor="t">
            <a:spAutoFit/>
          </a:bodyPr>
          <a:lstStyle/>
          <a:p>
            <a:pPr algn="l">
              <a:lnSpc>
                <a:spcPct val="100000"/>
              </a:lnSpc>
            </a:pPr>
            <a:r>
              <a:rPr sz="1100" b="1">
                <a:solidFill>
                  <a:srgbClr val="FF9C5B"/>
                </a:solidFill>
                <a:latin typeface="Aptos"/>
              </a:rPr>
              <a:t>LIMITS</a:t>
            </a:r>
          </a:p>
        </p:txBody>
      </p:sp>
      <p:sp>
        <p:nvSpPr>
          <p:cNvPr id="12" name="TextBox 11"/>
          <p:cNvSpPr txBox="1"/>
          <p:nvPr/>
        </p:nvSpPr>
        <p:spPr>
          <a:xfrm>
            <a:off x="6501384" y="1883664"/>
            <a:ext cx="4800600" cy="2468880"/>
          </a:xfrm>
          <a:prstGeom prst="rect">
            <a:avLst/>
          </a:prstGeom>
          <a:noFill/>
        </p:spPr>
        <p:txBody>
          <a:bodyPr wrap="square" lIns="36576" rIns="36576" tIns="18288" bIns="18288">
            <a:spAutoFit/>
          </a:bodyPr>
          <a:lstStyle/>
          <a:p>
            <a:pPr>
              <a:lnSpc>
                <a:spcPct val="105000"/>
              </a:lnSpc>
              <a:spcAft>
                <a:spcPts val="900"/>
              </a:spcAft>
            </a:pPr>
            <a:r>
              <a:rPr sz="1600">
                <a:solidFill>
                  <a:srgbClr val="FF9C5B"/>
                </a:solidFill>
                <a:latin typeface="Aptos"/>
              </a:rPr>
              <a:t>•  Conflicting labels prevent deterministic prediction</a:t>
            </a:r>
          </a:p>
          <a:p>
            <a:pPr>
              <a:lnSpc>
                <a:spcPct val="105000"/>
              </a:lnSpc>
              <a:spcAft>
                <a:spcPts val="900"/>
              </a:spcAft>
            </a:pPr>
            <a:r>
              <a:rPr sz="1600">
                <a:solidFill>
                  <a:srgbClr val="FF9C5B"/>
                </a:solidFill>
                <a:latin typeface="Aptos"/>
              </a:rPr>
              <a:t>•  Rare categories increase uncertainty</a:t>
            </a:r>
          </a:p>
          <a:p>
            <a:pPr>
              <a:lnSpc>
                <a:spcPct val="105000"/>
              </a:lnSpc>
              <a:spcAft>
                <a:spcPts val="900"/>
              </a:spcAft>
            </a:pPr>
            <a:r>
              <a:rPr sz="1600">
                <a:solidFill>
                  <a:srgbClr val="FF9C5B"/>
                </a:solidFill>
                <a:latin typeface="Aptos"/>
              </a:rPr>
              <a:t>•  Clusters are descriptive, not causal</a:t>
            </a:r>
          </a:p>
          <a:p>
            <a:pPr>
              <a:lnSpc>
                <a:spcPct val="105000"/>
              </a:lnSpc>
              <a:spcAft>
                <a:spcPts val="900"/>
              </a:spcAft>
            </a:pPr>
            <a:r>
              <a:rPr sz="1600">
                <a:solidFill>
                  <a:srgbClr val="FF9C5B"/>
                </a:solidFill>
                <a:latin typeface="Aptos"/>
              </a:rPr>
              <a:t>•  DBSCAN noise is not evidence of fraud</a:t>
            </a:r>
          </a:p>
          <a:p>
            <a:pPr>
              <a:lnSpc>
                <a:spcPct val="105000"/>
              </a:lnSpc>
              <a:spcAft>
                <a:spcPts val="900"/>
              </a:spcAft>
            </a:pPr>
            <a:r>
              <a:rPr sz="1600">
                <a:solidFill>
                  <a:srgbClr val="FF9C5B"/>
                </a:solidFill>
                <a:latin typeface="Aptos"/>
              </a:rPr>
              <a:t>•  Production use requires governance and monitoring</a:t>
            </a:r>
          </a:p>
        </p:txBody>
      </p:sp>
      <p:sp>
        <p:nvSpPr>
          <p:cNvPr id="13" name="Rounded Rectangle 12"/>
          <p:cNvSpPr/>
          <p:nvPr/>
        </p:nvSpPr>
        <p:spPr>
          <a:xfrm>
            <a:off x="530352" y="5687568"/>
            <a:ext cx="11128248" cy="621792"/>
          </a:xfrm>
          <a:prstGeom prst="roundRect">
            <a:avLst/>
          </a:prstGeom>
          <a:solidFill>
            <a:srgbClr val="132F4D"/>
          </a:solidFill>
          <a:ln w="12700">
            <a:solidFill>
              <a:srgbClr val="22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5879592"/>
            <a:ext cx="1005840" cy="182880"/>
          </a:xfrm>
          <a:prstGeom prst="rect">
            <a:avLst/>
          </a:prstGeom>
          <a:noFill/>
        </p:spPr>
        <p:txBody>
          <a:bodyPr wrap="square" lIns="27432" rIns="27432" tIns="27432" bIns="27432" anchor="t">
            <a:spAutoFit/>
          </a:bodyPr>
          <a:lstStyle/>
          <a:p>
            <a:pPr algn="l">
              <a:lnSpc>
                <a:spcPct val="100000"/>
              </a:lnSpc>
            </a:pPr>
            <a:r>
              <a:rPr sz="950" b="1">
                <a:solidFill>
                  <a:srgbClr val="55D7E3"/>
                </a:solidFill>
                <a:latin typeface="Aptos"/>
              </a:rPr>
              <a:t>REPOSITORY</a:t>
            </a:r>
          </a:p>
        </p:txBody>
      </p:sp>
      <p:sp>
        <p:nvSpPr>
          <p:cNvPr id="15" name="TextBox 14"/>
          <p:cNvSpPr txBox="1"/>
          <p:nvPr/>
        </p:nvSpPr>
        <p:spPr>
          <a:xfrm>
            <a:off x="1746504" y="5815584"/>
            <a:ext cx="5157216" cy="265176"/>
          </a:xfrm>
          <a:prstGeom prst="rect">
            <a:avLst/>
          </a:prstGeom>
          <a:noFill/>
        </p:spPr>
        <p:txBody>
          <a:bodyPr wrap="square" lIns="27432" rIns="27432" tIns="27432" bIns="27432" anchor="t">
            <a:spAutoFit/>
          </a:bodyPr>
          <a:lstStyle/>
          <a:p>
            <a:pPr algn="l">
              <a:lnSpc>
                <a:spcPct val="100000"/>
              </a:lnSpc>
            </a:pPr>
            <a:r>
              <a:rPr sz="1500" b="1">
                <a:solidFill>
                  <a:srgbClr val="F7FAFF"/>
                </a:solidFill>
                <a:latin typeface="Aptos"/>
              </a:rPr>
              <a:t>github.com/Awais-Asghar/customer-intelligence-ml</a:t>
            </a:r>
          </a:p>
        </p:txBody>
      </p:sp>
      <p:sp>
        <p:nvSpPr>
          <p:cNvPr id="16" name="TextBox 15"/>
          <p:cNvSpPr txBox="1"/>
          <p:nvPr/>
        </p:nvSpPr>
        <p:spPr>
          <a:xfrm>
            <a:off x="7004304" y="5843016"/>
            <a:ext cx="4361688" cy="219456"/>
          </a:xfrm>
          <a:prstGeom prst="rect">
            <a:avLst/>
          </a:prstGeom>
          <a:noFill/>
        </p:spPr>
        <p:txBody>
          <a:bodyPr wrap="square" lIns="27432" rIns="27432" tIns="27432" bIns="27432" anchor="t">
            <a:spAutoFit/>
          </a:bodyPr>
          <a:lstStyle/>
          <a:p>
            <a:pPr algn="r">
              <a:lnSpc>
                <a:spcPct val="100000"/>
              </a:lnSpc>
            </a:pPr>
            <a:r>
              <a:rPr sz="1250" b="0">
                <a:solidFill>
                  <a:srgbClr val="AFC0D1"/>
                </a:solidFill>
                <a:latin typeface="Aptos"/>
              </a:rPr>
              <a:t>Notebook  |  Tests  |  Figures  |  Reproducibility</a:t>
            </a:r>
          </a:p>
        </p:txBody>
      </p:sp>
      <p:sp>
        <p:nvSpPr>
          <p:cNvPr id="17" name="TextBox 16"/>
          <p:cNvSpPr txBox="1"/>
          <p:nvPr/>
        </p:nvSpPr>
        <p:spPr>
          <a:xfrm>
            <a:off x="530352" y="6528816"/>
            <a:ext cx="5669280" cy="164592"/>
          </a:xfrm>
          <a:prstGeom prst="rect">
            <a:avLst/>
          </a:prstGeom>
          <a:noFill/>
        </p:spPr>
        <p:txBody>
          <a:bodyPr wrap="square" lIns="27432" rIns="27432" tIns="27432" bIns="27432" anchor="t">
            <a:spAutoFit/>
          </a:bodyPr>
          <a:lstStyle/>
          <a:p>
            <a:pPr algn="l">
              <a:lnSpc>
                <a:spcPct val="100000"/>
              </a:lnSpc>
            </a:pPr>
            <a:r>
              <a:rPr sz="850" b="0">
                <a:solidFill>
                  <a:srgbClr val="AFC0D1"/>
                </a:solidFill>
                <a:latin typeface="Aptos"/>
              </a:rPr>
              <a:t>github.com/Awais-Asghar/customer-intelligence-ml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Intelligence ML Pipeline</dc:title>
  <dc:subject>Machine learning portfolio presentation</dc:subject>
  <dc:creator>Awais Asghar</dc:creator>
  <cp:keywords>PCA, K-Means, DBSCAN, gradient boosting, machine learning</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